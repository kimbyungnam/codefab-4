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280160" y="-1280160"/>
            <a:ext cx="3108960" cy="3108960"/>
          </a:xfrm>
          <a:prstGeom prst="ellipse">
            <a:avLst/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5120640"/>
            <a:ext cx="3840480" cy="2377440"/>
          </a:xfrm>
          <a:prstGeom prst="ellipse">
            <a:avLst/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5일차 발표 · CodeFab Interpreter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9601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F3C88"/>
                </a:solidFill>
                <a:latin typeface="맑은 고딕"/>
              </a:rPr>
              <a:t>CodeFab Interpreter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1F3C88"/>
                </a:solidFill>
                <a:latin typeface="맑은 고딕"/>
              </a:rPr>
              <a:t>프로젝트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8778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50" b="0">
                <a:solidFill>
                  <a:srgbClr val="5B6B8C"/>
                </a:solidFill>
                <a:latin typeface="맑은 고딕"/>
              </a:rPr>
              <a:t>1일차 Assembler · Checker · Executor 3단 구조 설계부터,</a:t>
            </a:r>
          </a:p>
          <a:p>
            <a:pPr algn="l">
              <a:lnSpc>
                <a:spcPct val="145000"/>
              </a:lnSpc>
            </a:pPr>
            <a:r>
              <a:rPr sz="1550" b="0">
                <a:solidFill>
                  <a:srgbClr val="5B6B8C"/>
                </a:solidFill>
                <a:latin typeface="맑은 고딕"/>
              </a:rPr>
              <a:t>3~4일차 함수·클래스·배열·모듈·최적화 기능 확장까지 — Bug Hunters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434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9525">
            <a:solidFill>
              <a:srgbClr val="CF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/>
            <a:r>
              <a:rPr sz="1200" b="1">
                <a:solidFill>
                  <a:srgbClr val="142A63"/>
                </a:solidFill>
                <a:latin typeface="맑은 고딕"/>
              </a:rPr>
              <a:t>조원 소개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4" y="4343400"/>
            <a:ext cx="1609344" cy="402336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9525">
            <a:solidFill>
              <a:srgbClr val="CF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/>
            <a:r>
              <a:rPr sz="1200" b="1" dirty="0" err="1">
                <a:solidFill>
                  <a:srgbClr val="142A63"/>
                </a:solidFill>
                <a:latin typeface="맑은 고딕"/>
              </a:rPr>
              <a:t>구조</a:t>
            </a:r>
            <a:r>
              <a:rPr sz="1200" b="1" dirty="0">
                <a:solidFill>
                  <a:srgbClr val="142A63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142A63"/>
                </a:solidFill>
                <a:latin typeface="맑은 고딕"/>
              </a:rPr>
              <a:t>설계</a:t>
            </a:r>
            <a:endParaRPr sz="1200" b="1" dirty="0">
              <a:solidFill>
                <a:srgbClr val="142A63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22192" y="43434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9525">
            <a:solidFill>
              <a:srgbClr val="CF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/>
            <a:r>
              <a:rPr sz="1200" b="1">
                <a:solidFill>
                  <a:srgbClr val="142A63"/>
                </a:solidFill>
                <a:latin typeface="맑은 고딕"/>
              </a:rPr>
              <a:t>기능 확장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6" y="43434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9525">
            <a:solidFill>
              <a:srgbClr val="CF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/>
            <a:r>
              <a:rPr sz="1200" b="1">
                <a:solidFill>
                  <a:srgbClr val="142A63"/>
                </a:solidFill>
                <a:latin typeface="맑은 고딕"/>
              </a:rPr>
              <a:t>BP 사례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343400"/>
            <a:ext cx="1353312" cy="402336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9525">
            <a:solidFill>
              <a:srgbClr val="CF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/>
            <a:r>
              <a:rPr sz="1200" b="1">
                <a:solidFill>
                  <a:srgbClr val="142A63"/>
                </a:solidFill>
                <a:latin typeface="맑은 고딕"/>
              </a:rPr>
              <a:t>프로젝트 시연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08976" y="43434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EAF0FB"/>
          </a:solidFill>
          <a:ln w="9525">
            <a:solidFill>
              <a:srgbClr val="CFD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Ins="146304" rtlCol="0" anchor="ctr"/>
          <a:lstStyle/>
          <a:p>
            <a:pPr algn="ctr"/>
            <a:r>
              <a:rPr sz="1200" b="1">
                <a:solidFill>
                  <a:srgbClr val="142A63"/>
                </a:solidFill>
                <a:latin typeface="맑은 고딕"/>
              </a:rPr>
              <a:t>소감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Agenda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2 /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09781"/>
              </p:ext>
            </p:extLst>
          </p:nvPr>
        </p:nvGraphicFramePr>
        <p:xfrm>
          <a:off x="502920" y="1417320"/>
          <a:ext cx="11183111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4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8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섹션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01 · 조원 소개 및 역할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Bug Hunters 5인, 1일차 최초 구현 → 3~4일차 확장까지 이어진 담당 영역 정리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142A63"/>
                          </a:solidFill>
                          <a:latin typeface="맑은 고딕"/>
                        </a:rPr>
                        <a:t>02 · </a:t>
                      </a:r>
                      <a:r>
                        <a:rPr sz="1350" b="1" dirty="0" err="1">
                          <a:solidFill>
                            <a:srgbClr val="142A63"/>
                          </a:solidFill>
                          <a:latin typeface="맑은 고딕"/>
                        </a:rPr>
                        <a:t>구조</a:t>
                      </a:r>
                      <a:r>
                        <a:rPr sz="1350" b="1" dirty="0">
                          <a:solidFill>
                            <a:srgbClr val="142A63"/>
                          </a:solidFill>
                          <a:latin typeface="맑은 고딕"/>
                        </a:rPr>
                        <a:t> </a:t>
                      </a:r>
                      <a:r>
                        <a:rPr sz="1350" b="1" dirty="0" err="1">
                          <a:solidFill>
                            <a:srgbClr val="142A63"/>
                          </a:solidFill>
                          <a:latin typeface="맑은 고딕"/>
                        </a:rPr>
                        <a:t>설계</a:t>
                      </a:r>
                      <a:endParaRPr sz="1350" b="1" dirty="0">
                        <a:solidFill>
                          <a:srgbClr val="142A63"/>
                        </a:solidFill>
                        <a:latin typeface="맑은 고딕"/>
                      </a:endParaRP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Assembler · Checker · Executor 3단 파이프라인을 처음 세운 과정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03 · 기능 구현 소개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완성된 파이프라인 구조 + 3~4일차 Chapter별 확장 기능 정리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04 · Best Practice 6선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실제 GitHub 리뷰 이력(PR #91/#65/#69/#64)과 코드 구조 패턴 기준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05 · 프로젝트 시연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파일 · REPL · 디버그 모드 순서로 기능이 실제로 맞물려 동작하는 모습을 시연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06 · 소감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조원별</a:t>
                      </a:r>
                      <a:r>
                        <a:rPr sz="1350" dirty="0">
                          <a:solidFill>
                            <a:srgbClr val="16213A"/>
                          </a:solidFill>
                          <a:latin typeface="맑은 고딕"/>
                        </a:rPr>
                        <a:t> 한 줄 </a:t>
                      </a:r>
                      <a:r>
                        <a:rPr sz="135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회고</a:t>
                      </a:r>
                      <a:endParaRPr sz="1350" dirty="0">
                        <a:solidFill>
                          <a:srgbClr val="16213A"/>
                        </a:solidFill>
                        <a:latin typeface="맑은 고딕"/>
                      </a:endParaRP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조원 소개 및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Team &amp; Roles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8604"/>
            <a:ext cx="10789920" cy="302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700" b="1" dirty="0" err="1">
                <a:solidFill>
                  <a:srgbClr val="16213A"/>
                </a:solidFill>
                <a:latin typeface="맑은 고딕"/>
              </a:rPr>
              <a:t>팀명</a:t>
            </a:r>
            <a:r>
              <a:rPr lang="en-US" altLang="ko-KR" sz="1700" b="1" dirty="0">
                <a:solidFill>
                  <a:srgbClr val="16213A"/>
                </a:solidFill>
                <a:latin typeface="맑은 고딕"/>
              </a:rPr>
              <a:t>: Bug Hunters</a:t>
            </a:r>
            <a:endParaRPr sz="1700" b="1" dirty="0">
              <a:solidFill>
                <a:srgbClr val="16213A"/>
              </a:solidFill>
              <a:latin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581566"/>
              </p:ext>
            </p:extLst>
          </p:nvPr>
        </p:nvGraphicFramePr>
        <p:xfrm>
          <a:off x="502920" y="2148840"/>
          <a:ext cx="11183111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3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9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1" dirty="0">
                          <a:solidFill>
                            <a:srgbClr val="5B6B8C"/>
                          </a:solidFill>
                          <a:latin typeface="맑은 고딕"/>
                        </a:rPr>
                        <a:t>역할</a:t>
                      </a:r>
                      <a:endParaRPr sz="1100" b="1" dirty="0">
                        <a:solidFill>
                          <a:srgbClr val="5B6B8C"/>
                        </a:solidFill>
                        <a:latin typeface="맑은 고딕"/>
                      </a:endParaRP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김병남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프로젝트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초기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설정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CI/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커버리지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파이프라인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브랜치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컨벤션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 →  CLI/REPL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통합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import(Ch.6) ·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전체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통합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테스트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총괄</a:t>
                      </a:r>
                      <a:endParaRPr sz="1300" dirty="0">
                        <a:solidFill>
                          <a:srgbClr val="16213A"/>
                        </a:solidFill>
                        <a:latin typeface="맑은 고딕"/>
                      </a:endParaRP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조승주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Tokenizer/Token 구현 · Statement Parser 초안  →  디버그 모드(Ch.7 공장 제어 쉘) 구현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이하섭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테스트케이스 작성 · Executor Unit 최초 구현  →  클래스(Ch.3) 기능 전체 구현 · Executor 리팩토링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최현준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Assembler Unit · Expression Parser 구현  →  정적 배열(Ch.4) · 실행 전 최적화(Ch.5) · 문법 리팩토링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이준원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AST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노드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인터페이스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Checker Unit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최초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구현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 → 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함수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(Ch.2)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기능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초기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구현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에러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모듈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통합</a:t>
                      </a:r>
                      <a:endParaRPr sz="1300" dirty="0">
                        <a:solidFill>
                          <a:srgbClr val="16213A"/>
                        </a:solidFill>
                        <a:latin typeface="맑은 고딕"/>
                      </a:endParaRP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53604"/>
            <a:ext cx="7863840" cy="3534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200" b="1" dirty="0">
                <a:solidFill>
                  <a:srgbClr val="FFFFFF"/>
                </a:solidFill>
                <a:latin typeface="맑은 고딕"/>
              </a:rPr>
              <a:t>구조 설계</a:t>
            </a:r>
            <a:endParaRPr sz="22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Day 1 · Foundation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8604"/>
            <a:ext cx="10789920" cy="3026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dirty="0">
                <a:solidFill>
                  <a:srgbClr val="16213A"/>
                </a:solidFill>
                <a:latin typeface="맑은 고딕"/>
              </a:rPr>
              <a:t>Assembler · Checker · Executor</a:t>
            </a:r>
            <a:r>
              <a:rPr lang="en-US" sz="1700" b="1" dirty="0">
                <a:solidFill>
                  <a:srgbClr val="16213A"/>
                </a:solidFill>
                <a:latin typeface="맑은 고딕"/>
              </a:rPr>
              <a:t> Unit </a:t>
            </a:r>
            <a:r>
              <a:rPr lang="ko-KR" altLang="en-US" sz="1700" b="1" dirty="0">
                <a:solidFill>
                  <a:srgbClr val="16213A"/>
                </a:solidFill>
                <a:latin typeface="맑은 고딕"/>
              </a:rPr>
              <a:t>구조 설계</a:t>
            </a:r>
            <a:endParaRPr sz="1700" b="1" dirty="0">
              <a:solidFill>
                <a:srgbClr val="16213A"/>
              </a:solidFill>
              <a:latin typeface="맑은 고딕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81246"/>
              </p:ext>
            </p:extLst>
          </p:nvPr>
        </p:nvGraphicFramePr>
        <p:xfrm>
          <a:off x="502920" y="2286000"/>
          <a:ext cx="1118311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6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6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Unit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1일차 최초 구현 내용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Assembler Unit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Tokenizer로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소스를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토큰화하고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, Expression/Statement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Parser로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AST를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구성한다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Checker Unit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AST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노드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인터페이스를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정의하고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, accept/visit_*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방식으로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변수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중복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선언·선언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전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사용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같은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정적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오류를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미리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잡는다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Executor Unit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Checker를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통과한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AST를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순회하며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실제로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실행한다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— 이 3단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구조가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이후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함수·클래스·최적화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등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모든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확장의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토대가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됐다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팀 인프라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프로젝트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초기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설정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CI/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커버리지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파이프라인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PR·브랜치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컨벤션이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이후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협업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방식의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기반을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마련했다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인터프리터 파이프라인 구조 (완성형)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Architecture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1일차의 3단 구조가 3~4일차를 거치며, 소스 코드 한 줄이 결과가 되기까지 이렇게 4단을 통과하게 됐습니다.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463" y="2331720"/>
            <a:ext cx="1572768" cy="960120"/>
          </a:xfrm>
          <a:prstGeom prst="roundRect">
            <a:avLst>
              <a:gd name="adj" fmla="val 1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42A63"/>
                </a:solidFill>
                <a:latin typeface="맑은 고딕"/>
              </a:rPr>
              <a:t>소스</a:t>
            </a:r>
          </a:p>
          <a:p>
            <a:pPr algn="ctr"/>
            <a:r>
              <a:rPr sz="1350" b="1">
                <a:solidFill>
                  <a:srgbClr val="142A63"/>
                </a:solidFill>
                <a:latin typeface="맑은 고딕"/>
              </a:rPr>
              <a:t>(.laugh)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10231" y="2811779"/>
            <a:ext cx="256032" cy="0"/>
          </a:xfrm>
          <a:prstGeom prst="line">
            <a:avLst/>
          </a:prstGeom>
          <a:ln w="22225">
            <a:solidFill>
              <a:srgbClr val="142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6263" y="2331720"/>
            <a:ext cx="1572768" cy="960120"/>
          </a:xfrm>
          <a:prstGeom prst="roundRect">
            <a:avLst>
              <a:gd name="adj" fmla="val 16000"/>
            </a:avLst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Tokenizer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39031" y="2811779"/>
            <a:ext cx="256032" cy="0"/>
          </a:xfrm>
          <a:prstGeom prst="line">
            <a:avLst/>
          </a:prstGeom>
          <a:ln w="22225">
            <a:solidFill>
              <a:srgbClr val="142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95063" y="2331720"/>
            <a:ext cx="1572768" cy="960120"/>
          </a:xfrm>
          <a:prstGeom prst="roundRect">
            <a:avLst>
              <a:gd name="adj" fmla="val 16000"/>
            </a:avLst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Assembler</a:t>
            </a:r>
          </a:p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(Parser)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7831" y="2811779"/>
            <a:ext cx="256032" cy="0"/>
          </a:xfrm>
          <a:prstGeom prst="line">
            <a:avLst/>
          </a:prstGeom>
          <a:ln w="22225">
            <a:solidFill>
              <a:srgbClr val="142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3863" y="2331720"/>
            <a:ext cx="1572768" cy="960120"/>
          </a:xfrm>
          <a:prstGeom prst="roundRect">
            <a:avLst>
              <a:gd name="adj" fmla="val 16000"/>
            </a:avLst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Checker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96631" y="2811779"/>
            <a:ext cx="256032" cy="0"/>
          </a:xfrm>
          <a:prstGeom prst="line">
            <a:avLst/>
          </a:prstGeom>
          <a:ln w="22225">
            <a:solidFill>
              <a:srgbClr val="142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52663" y="2331720"/>
            <a:ext cx="1572768" cy="960120"/>
          </a:xfrm>
          <a:prstGeom prst="roundRect">
            <a:avLst>
              <a:gd name="adj" fmla="val 16000"/>
            </a:avLst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Executor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25431" y="2811779"/>
            <a:ext cx="256032" cy="0"/>
          </a:xfrm>
          <a:prstGeom prst="line">
            <a:avLst/>
          </a:prstGeom>
          <a:ln w="22225">
            <a:solidFill>
              <a:srgbClr val="142A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81463" y="2331720"/>
            <a:ext cx="1572768" cy="960120"/>
          </a:xfrm>
          <a:prstGeom prst="roundRect">
            <a:avLst>
              <a:gd name="adj" fmla="val 16000"/>
            </a:avLst>
          </a:prstGeom>
          <a:solidFill>
            <a:srgbClr val="EA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142A63"/>
                </a:solidFill>
                <a:latin typeface="맑은 고딕"/>
              </a:rPr>
              <a:t>출력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351818"/>
              </p:ext>
            </p:extLst>
          </p:nvPr>
        </p:nvGraphicFramePr>
        <p:xfrm>
          <a:off x="502920" y="3703320"/>
          <a:ext cx="11183111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4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끼어드는 단계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42A63"/>
                          </a:solidFill>
                          <a:latin typeface="맑은 고딕"/>
                        </a:rPr>
                        <a:t>Checker → Resolver/Optimizer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Ch.5 요구사항: 변수 정적 바인딩(distance 계산) + 리터럴 상수 폴딩을 Checker 통과 후 Executor 전에 수행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Assembler ↔ ModuleLoader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Ch.6 import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문을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만나면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대상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파일을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재귀적으로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어셈블·검증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후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현재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스코프에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값으로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바인딩</a:t>
                      </a:r>
                      <a:endParaRPr sz="1300" dirty="0">
                        <a:solidFill>
                          <a:srgbClr val="16213A"/>
                        </a:solidFill>
                        <a:latin typeface="맑은 고딕"/>
                      </a:endParaRP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Chapter별 기능 구현 요약 (3~4일차 확장)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Feature 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6 /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62083"/>
              </p:ext>
            </p:extLst>
          </p:nvPr>
        </p:nvGraphicFramePr>
        <p:xfrm>
          <a:off x="502920" y="1417320"/>
          <a:ext cx="11183111" cy="4709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9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6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Chapter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구현 기능 (핵심 파일)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42A63"/>
                          </a:solidFill>
                          <a:latin typeface="맑은 고딕"/>
                        </a:rPr>
                        <a:t>Ch.1 </a:t>
                      </a:r>
                      <a:r>
                        <a:rPr sz="1300" b="1" dirty="0" err="1">
                          <a:solidFill>
                            <a:srgbClr val="142A63"/>
                          </a:solidFill>
                          <a:latin typeface="맑은 고딕"/>
                        </a:rPr>
                        <a:t>기초</a:t>
                      </a:r>
                      <a:endParaRPr sz="1300" b="1" dirty="0">
                        <a:solidFill>
                          <a:srgbClr val="142A63"/>
                        </a:solidFill>
                        <a:latin typeface="맑은 고딕"/>
                      </a:endParaRP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변수 · 조건문 · 반복문 · 연산자 (tokenizer.py, checker.py, executor_unit.py)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Ch.2 함수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함수 선언·호출·재귀·return (function_checker.py, function_executor.py, function_interpreter.py)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Ch.3 클래스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선언·인스턴스·필드·메서드·this·생성자·상속·super·instanceof (executor_unit.py의 LaughClass/LaughInstance)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Ch.4 배열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고정 크기 정적 배열, 인덱스 읽기/쓰기, 런타임 오류 검사 (array_nodes.py)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Ch.5 최적화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정적 변수 바인딩(O(1) 조회), 상수 표현식 폴딩 (resolver.py, optimizer.py)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Ch.6 import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파일 import, 별칭 바인딩, 순환/중복 import 검사 (module_loader.py)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Ch.7 쉘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프롬프트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(REPL) ·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파일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·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디버그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(step/breakpoint/watch) 3가지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실행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</a:t>
                      </a:r>
                      <a:r>
                        <a:rPr sz="1300" dirty="0" err="1">
                          <a:solidFill>
                            <a:srgbClr val="16213A"/>
                          </a:solidFill>
                          <a:latin typeface="맑은 고딕"/>
                        </a:rPr>
                        <a:t>모드</a:t>
                      </a:r>
                      <a:r>
                        <a:rPr sz="1300" dirty="0">
                          <a:solidFill>
                            <a:srgbClr val="16213A"/>
                          </a:solidFill>
                          <a:latin typeface="맑은 고딕"/>
                        </a:rPr>
                        <a:t> (cli.py, app/repl.py, app/debug.py)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BP1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알려진 결함을 “실패하는 테스트”로 못박는다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BP 1/6 · TDD 전략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PR #91: 고치지 않은 버그를 방치하는 대신, xfail(strict=True)로 실패 자체를 스펙으로 남긴다.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5486400" cy="3611880"/>
          </a:xfrm>
          <a:prstGeom prst="roundRect">
            <a:avLst>
              <a:gd name="adj" fmla="val 4500"/>
            </a:avLst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56032" bIns="18288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7FA8FF"/>
                </a:solidFill>
                <a:latin typeface="맑은 고딕"/>
              </a:rPr>
              <a:t>PR #91 · tests/integration/test_known_gaps_integration.py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@pytest.mark.xfail(strict=True, reason=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"함수 기능이 codefab.cli가 쓰는 base Interpreter에 배선되지 않음")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def test_함수_선언과_호출_매개변수_전달(tmp_path):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    # 지금은 실패해야 정상 — 원하는 최종 동작을 그대로 assert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result = run_cli(script, cwd=tmp_path)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assert result.stdout == "10\n"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2240280"/>
          <a:ext cx="5440679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효과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실패 고정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지금은 실패해야 정상 — 우연한 XPASS와 진짜 회귀를 구분해준다.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자동 승격 신호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버그가 고쳐지는 순간 XPASS로 CI가 스스로 실패 → “golden 테스트로 승격시켜라”는 신호가 사람의 기억력에 의존하지 않는다.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추적성 연결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이후 Issue #93(print 다중값 미지원)처럼 실제 이슈로도 등록되어 별도로 추적된다.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BP2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리뷰는 “읽기”가 아니라 “실행”으로 끝낸다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BP 2/6 · 리뷰 문화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PR #65: 파서 결과만 보지 않고 실제로 인터프리터를 돌려봐야 파이프라인 전체가 동작하는지 알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5486400" cy="3611880"/>
          </a:xfrm>
          <a:prstGeom prst="roundRect">
            <a:avLst>
              <a:gd name="adj" fmla="val 4500"/>
            </a:avLst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56032" bIns="18288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7FA8FF"/>
                </a:solidFill>
                <a:latin typeface="맑은 고딕"/>
              </a:rPr>
              <a:t>PR #65 · 가져오기(import) 통합 누락(wiring gap) 발견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리뷰어(kimbyungnam):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Interpreter().interpret(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'가져오기 "sum.txt" 별칭 sum;')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→ Checker에 visit_import_stmt가 없어 런타임 에러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endParaRPr sz="1250">
              <a:solidFill>
                <a:srgbClr val="DBE6FF"/>
              </a:solidFill>
              <a:latin typeface="Consolas"/>
            </a:endParaRP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작성자: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이번 PR은 파싱까지만, Checker/Executor는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다음 PR에서 순차 연결하겠습니다.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2240280"/>
          <a:ext cx="5440679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확인 관점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실행 기반 검증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테스트가 파서 결과만 검증하면, 파이프라인 전체가 동작한다는 보장이 안 된다.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스코프 명확화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리뷰에서 발견된 갭엔 “이번 PR 범위 아님”을 명확히 답하고 다음 PR로 넘긴다.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반복되는 패턴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CLAUDE.md의 “함수는 기본 파이프라인에 배선되지 않았다” 경고와 동일한 패턴.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BP3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무엇이 왜 틀렸는지, 재현 예시로 짚는다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BP 3/6 · 리뷰 코멘트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PR #69: “무엇이 왜 틀렸는지 + 재현 예시”가 있는 코멘트는 왕복 없이 한 번에 수정으로 이어진다.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5486400" cy="3611880"/>
          </a:xfrm>
          <a:prstGeom prst="roundRect">
            <a:avLst>
              <a:gd name="adj" fmla="val 4500"/>
            </a:avLst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56032" bIns="18288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7FA8FF"/>
                </a:solidFill>
                <a:latin typeface="맑은 고딕"/>
              </a:rPr>
              <a:t>PR #69 · 배열 인덱스 표현식 버그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리뷰어(hasuplee):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line_of_expr가 arr[0] = 10; 같은 배열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인덱스 라인에서 실패합니다.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→ 재현 코드 스니펫 포함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endParaRPr sz="1250">
              <a:solidFill>
                <a:srgbClr val="DBE6FF"/>
              </a:solidFill>
              <a:latin typeface="Consolas"/>
            </a:endParaRP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작성자: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즉시 반영 → 왕복 없이 APPROVED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2240280"/>
          <a:ext cx="5440679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요소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왜 효과적인가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무엇이 틀렸는지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추상적 지적(“버그가 있어요”)이 아니라 정확한 실패 지점을 짚는다.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재현 예시 포함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작성자가 직접 재현할 필요 없이 바로 원인을 확인할 수 있다.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왕복 최소화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한 번의 코멘트 → 한 번의 수정 → 승인으로 리뷰 사이클이 끝난다.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BP4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설계 결정에는 “왜”를 코멘트로 남긴다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BP 4/6 · 설계 문서화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PR #64: 대안을 검토했지만 채택하지 않은 이유까지 남기면, 같은 질문이 반복되지 않는다.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5486400" cy="3611880"/>
          </a:xfrm>
          <a:prstGeom prst="roundRect">
            <a:avLst>
              <a:gd name="adj" fmla="val 4500"/>
            </a:avLst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56032" bIns="18288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7FA8FF"/>
                </a:solidFill>
                <a:latin typeface="맑은 고딕"/>
              </a:rPr>
              <a:t>PR #64 · CLI 진입점 통합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리뷰어: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codefab &lt;경로&gt;처럼 인자 유무로 파일 모드를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판단하면 어떨까요?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endParaRPr sz="1250">
              <a:solidFill>
                <a:srgbClr val="DBE6FF"/>
              </a:solidFill>
              <a:latin typeface="Consolas"/>
            </a:endParaRP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작성자: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이후 debug &lt;경로&gt;가 추가되면 'debug'라는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단어가 파일 경로로 오인될 수 있어, 서브커맨드로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모드를 명시하는 구조를 유지했습니다.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2240280"/>
          <a:ext cx="5440679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효과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미래 확장 근거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실제로 이후 PR #69에서 debug 서브커맨드가 추가되며 이 결정이 맞았음이 증명됐다.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반복 질문 방지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왜 이렇게 설계했는지 기록해두면 같은 질문이 나중에 또 나오지 않는다.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대안까지 기록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채택한 안뿐 아니라 검토했던 대안(인자 기반 판단)도 남아 맥락이 보존된다.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BP5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공통 로직은 그대로, 달라지는 지점만 훅으로 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BP 5/6 · 리팩토링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베이스 클래스를 고치지 않고, 딱 한 지점을 훅으로 뽑아 서브클래스가 오버라이드하게 만든다.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5486400" cy="3611880"/>
          </a:xfrm>
          <a:prstGeom prst="roundRect">
            <a:avLst>
              <a:gd name="adj" fmla="val 4500"/>
            </a:avLst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56032" bIns="18288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7FA8FF"/>
                </a:solidFill>
                <a:latin typeface="맑은 고딕"/>
              </a:rPr>
              <a:t>codefab/checker.py → codefab/function_checker.py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# Checker: 메서드 순회 로직을 훅 하나로 분리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def _visit_method_body(self, method) -&gt; None: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for statement in method.body: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    statement.accept(self)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endParaRPr sz="1250">
              <a:solidFill>
                <a:srgbClr val="DBE6FF"/>
              </a:solidFill>
              <a:latin typeface="Consolas"/>
            </a:endParaRP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# FunctionChecker: 이 훅 하나만 오버라이드해서 확장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def _visit_method_body(self, method) -&gt; None: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self.function_depth += 1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try: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    super()._visit_method_body(method)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finally: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    self.function_depth -= 1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2240280"/>
          <a:ext cx="5440679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원칙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적용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개방-폐쇄 원칙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Checker의 기존 코드는 한 줄도 안 건드리고 FunctionChecker만 확장했다.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단일 진입점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“메서드 본문을 어떻게 순회하는가”가 코드베이스 전체에서 딱 한 곳에만 존재한다.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회귀 위험 최소화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기존 클래스 검사 동작은 그대로 보존된 채로 “메서드 내부 반환” 지원이 추가됐다.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BP6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다국어 표기는 렉서 한 층에서 끝낸다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BP 6/6 · 언어 설계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한글·영어 표기는 토크나이저에서만 구분하고, 그 아래 계층은 표기 언어를 몰라도 되게 만든다.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5486400" cy="3611880"/>
          </a:xfrm>
          <a:prstGeom prst="roundRect">
            <a:avLst>
              <a:gd name="adj" fmla="val 4500"/>
            </a:avLst>
          </a:prstGeom>
          <a:solidFill>
            <a:srgbClr val="0F1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0" rIns="256032" bIns="182880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7FA8FF"/>
                </a:solidFill>
                <a:latin typeface="맑은 고딕"/>
              </a:rPr>
              <a:t>codefab/tokens.py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KEYWORDS = {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"var": TokenType.VAR,       "변수": TokenType.VAR,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"class": TokenType.CLASS,   "클래스": TokenType.CLASS,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"func": TokenType.FUN,      "함수": TokenType.FUN,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    "return": TokenType.RETURN, "반환": TokenType.RETURN,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DBE6FF"/>
                </a:solidFill>
                <a:latin typeface="Consolas"/>
              </a:rPr>
              <a:t>}</a:t>
            </a:r>
          </a:p>
          <a:p>
            <a:pPr>
              <a:lnSpc>
                <a:spcPct val="128000"/>
              </a:lnSpc>
              <a:spcBef>
                <a:spcPts val="100"/>
              </a:spcBef>
            </a:pPr>
            <a:r>
              <a:rPr sz="1250">
                <a:solidFill>
                  <a:srgbClr val="7FA8FF"/>
                </a:solidFill>
                <a:latin typeface="Consolas"/>
              </a:rPr>
              <a:t># AST / Checker / Executor는 TokenType만 보고, 표기는 신경 쓰지 않는다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2240280"/>
          <a:ext cx="5440679" cy="3611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7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297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언어 인식 여부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Tokenizer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한글·영어 표기를 모두 인식해 같은 TokenType으로 통일한다.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AST / Checker / Executor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표기 언어와 완전히 무관 — TokenType enum 값만 보고 동작한다.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29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42A63"/>
                          </a:solidFill>
                          <a:latin typeface="맑은 고딕"/>
                        </a:rPr>
                        <a:t>확장 비용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00">
                          <a:solidFill>
                            <a:srgbClr val="16213A"/>
                          </a:solidFill>
                          <a:latin typeface="맑은 고딕"/>
                        </a:rPr>
                        <a:t>새 표기를 추가할 때 KEYWORDS 테이블 한 줄만 고치면 된다. 실제로 func/return이 함수/반환과 동일하게 동작함을 테스트로 검증했다.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프로젝트 시연 시나리오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Live 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45720" cy="68580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29844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6213A"/>
                </a:solidFill>
                <a:latin typeface="맑은 고딕"/>
              </a:rPr>
              <a:t>파일 모드 → REPL → 디버그 모드 순서로, Chapter 1~7 기능이 실제로 맞물려 동작하는 모습을 보여줍니다.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286000"/>
          <a:ext cx="11183111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6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6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순서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보여줄 내용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1. 파일 모드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`codefab run`으로 클래스+함수+상속이 함께 있는 예제 실행 → 정상 출력 확인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2. REPL 모드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변수 선언·조건문을 한 줄씩 입력해 대화형으로 실행하는 모습 시연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3. 디버그 모드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`codefab debug`에서 step/breakpoint/watch로 함수 호출과 변수 변화를 실시간 관찰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4. import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분리된 모듈(.laugh) 파일을 불러와 변수·함수를 재사용하는 예제 실행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5. 에러 케이스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의도적으로 잘못된 스크립트 실행 → 정확한 한글 에러 메시지와 줄 번호 확인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C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32918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142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56032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맑은 고딕"/>
              </a:rPr>
              <a:t>소감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56032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>
                <a:solidFill>
                  <a:srgbClr val="D8E1F7"/>
                </a:solidFill>
                <a:latin typeface="맑은 고딕"/>
              </a:rPr>
              <a:t>Retrospective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55080"/>
            <a:ext cx="11183112" cy="0"/>
          </a:xfrm>
          <a:prstGeom prst="line">
            <a:avLst/>
          </a:prstGeom>
          <a:ln w="12700">
            <a:solidFill>
              <a:srgbClr val="CFD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CodeFab Interpreter · 5일차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618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5B6B8C"/>
                </a:solidFill>
                <a:latin typeface="Consolas"/>
              </a:rPr>
              <a:t>14 / 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17320"/>
          <a:ext cx="11183111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5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17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이름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B6B8C"/>
                          </a:solidFill>
                          <a:latin typeface="맑은 고딕"/>
                        </a:rPr>
                        <a:t>소감 (초안 — 발표 전 자유롭게 수정)</a:t>
                      </a:r>
                    </a:p>
                  </a:txBody>
                  <a:tcPr marL="109728" marR="109728" marT="54864" marB="54864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김병남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1일차에 세운 CI/브랜치 컨벤션이 있어서, 여러 브랜치를 하나의 파이프라인으로 배선할 때도 안심하고 통합할 수 있었다.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조승주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1일차에 만든 토크나이저가 끝까지 그대로 쓰였다 — 한글 키워드 하나 추가하는 것도 그 설계가 받쳐줘야 쉬워진다는 걸 알았다.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이하섭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1일차 Executor Unit을 클래스로 확장하면서, this/super 바인딩 같은 작은 디테일이 큰 버그로 이어진다는 걸 체감했다.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최현준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최적화는 정답을 바꾸지 않는 선에서만 해야 한다는 원칙을 지키는 게 생각보다 까다로웠다.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2A63"/>
                          </a:solidFill>
                          <a:latin typeface="맑은 고딕"/>
                        </a:rPr>
                        <a:t>이준원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350">
                          <a:solidFill>
                            <a:srgbClr val="16213A"/>
                          </a:solidFill>
                          <a:latin typeface="맑은 고딕"/>
                        </a:rPr>
                        <a:t>1일차에 Checker를 먼저 설계해두니, 뒤에 오는 기능들이 그 위에 안전하게 쌓일 수 있었다.</a:t>
                      </a:r>
                    </a:p>
                  </a:txBody>
                  <a:tcPr marL="109728" marR="109728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B8C"/>
                </a:solidFill>
                <a:latin typeface="맑은 고딕"/>
              </a:rPr>
              <a:t>* 소감은 초안입니다 — 발표 전 각자의 생각으로 자유롭게 수정하세요.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2023</Words>
  <Application>Microsoft Office PowerPoint</Application>
  <PresentationFormat>와이드스크린</PresentationFormat>
  <Paragraphs>279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2026-07-09T06:47:13Z</dcterms:modified>
  <cp:category/>
</cp:coreProperties>
</file>