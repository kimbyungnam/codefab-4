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280160"/>
            <a:ext cx="3108960" cy="3108960"/>
          </a:xfrm>
          <a:prstGeom prst="ellipse">
            <a:avLst/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92640" y="5120640"/>
            <a:ext cx="3840480" cy="2377440"/>
          </a:xfrm>
          <a:prstGeom prst="ellipse">
            <a:avLst/>
          </a:prstGeom>
          <a:solidFill>
            <a:srgbClr val="14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960120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4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5일차 발표 · CodeFab Interpreter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96012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F3C88"/>
                </a:solidFill>
                <a:latin typeface="맑은 고딕"/>
              </a:rPr>
              <a:t>CodeFab Interpreter</a:t>
            </a:r>
          </a:p>
          <a:p>
            <a:pPr algn="l">
              <a:lnSpc>
                <a:spcPct val="115000"/>
              </a:lnSpc>
            </a:pPr>
            <a:r>
              <a:rPr sz="3800" b="1">
                <a:solidFill>
                  <a:srgbClr val="1F3C88"/>
                </a:solidFill>
                <a:latin typeface="맑은 고딕"/>
              </a:rPr>
              <a:t>프로젝트 발표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3756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550" b="0">
                <a:solidFill>
                  <a:srgbClr val="5B6B8C"/>
                </a:solidFill>
                <a:latin typeface="맑은 고딕"/>
              </a:rPr>
              <a:t>변수·조건문부터 함수·클래스·배열·모듈까지 —</a:t>
            </a:r>
          </a:p>
          <a:p>
            <a:pPr algn="l">
              <a:lnSpc>
                <a:spcPct val="145000"/>
              </a:lnSpc>
            </a:pPr>
            <a:r>
              <a:rPr sz="1550" b="0">
                <a:solidFill>
                  <a:srgbClr val="5B6B8C"/>
                </a:solidFill>
                <a:latin typeface="맑은 고딕"/>
              </a:rPr>
              <a:t>Assembler · Checker · Executor 3단 파이프라인으로 완성한 한글 인터프리터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29768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 w="9525">
            <a:solidFill>
              <a:srgbClr val="CFD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/>
          <a:lstStyle/>
          <a:p>
            <a:pPr algn="ctr"/>
            <a:r>
              <a:rPr sz="1200" b="1">
                <a:solidFill>
                  <a:srgbClr val="142A63"/>
                </a:solidFill>
                <a:latin typeface="맑은 고딕"/>
              </a:rPr>
              <a:t>조원 소개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84832" y="429768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 w="9525">
            <a:solidFill>
              <a:srgbClr val="CFD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/>
          <a:lstStyle/>
          <a:p>
            <a:pPr algn="ctr"/>
            <a:r>
              <a:rPr sz="1200" b="1">
                <a:solidFill>
                  <a:srgbClr val="142A63"/>
                </a:solidFill>
                <a:latin typeface="맑은 고딕"/>
              </a:rPr>
              <a:t>구조 설계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46704" y="429768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 w="9525">
            <a:solidFill>
              <a:srgbClr val="CFD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/>
          <a:lstStyle/>
          <a:p>
            <a:pPr algn="ctr"/>
            <a:r>
              <a:rPr sz="1200" b="1">
                <a:solidFill>
                  <a:srgbClr val="142A63"/>
                </a:solidFill>
                <a:latin typeface="맑은 고딕"/>
              </a:rPr>
              <a:t>BP 3선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08576" y="4297680"/>
            <a:ext cx="1353312" cy="402336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 w="9525">
            <a:solidFill>
              <a:srgbClr val="CFD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/>
          <a:lstStyle/>
          <a:p>
            <a:pPr algn="ctr"/>
            <a:r>
              <a:rPr sz="1200" b="1">
                <a:solidFill>
                  <a:srgbClr val="142A63"/>
                </a:solidFill>
                <a:latin typeface="맑은 고딕"/>
              </a:rPr>
              <a:t>프로젝트 시연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4297680"/>
            <a:ext cx="713232" cy="402336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 w="9525">
            <a:solidFill>
              <a:srgbClr val="CFD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/>
          <a:lstStyle/>
          <a:p>
            <a:pPr algn="ctr"/>
            <a:r>
              <a:rPr sz="1200" b="1">
                <a:solidFill>
                  <a:srgbClr val="142A63"/>
                </a:solidFill>
                <a:latin typeface="맑은 고딕"/>
              </a:rPr>
              <a:t>소감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329184"/>
            <a:ext cx="566928" cy="384048"/>
          </a:xfrm>
          <a:prstGeom prst="roundRect">
            <a:avLst>
              <a:gd name="adj" fmla="val 30000"/>
            </a:avLst>
          </a:prstGeom>
          <a:solidFill>
            <a:srgbClr val="14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56032"/>
            <a:ext cx="7863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256032"/>
            <a:ext cx="3108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D8E1F7"/>
                </a:solidFill>
                <a:latin typeface="맑은 고딕"/>
              </a:rPr>
              <a:t>Agenda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CFD9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CodeFab Interpreter · 5일차 발표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46520"/>
            <a:ext cx="126187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2 / 10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417320"/>
          <a:ext cx="11183111" cy="4480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354933"/>
                <a:gridCol w="7828178"/>
              </a:tblGrid>
              <a:tr h="746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섹션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A63"/>
                          </a:solidFill>
                          <a:latin typeface="맑은 고딕"/>
                        </a:rPr>
                        <a:t>01 · 조원 소개 및 역할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400">
                          <a:solidFill>
                            <a:srgbClr val="16213A"/>
                          </a:solidFill>
                          <a:latin typeface="맑은 고딕"/>
                        </a:rPr>
                        <a:t>Name1~Name5, 커밋 이력 기준 실제 담당 기능으로 역할 정리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A63"/>
                          </a:solidFill>
                          <a:latin typeface="맑은 고딕"/>
                        </a:rPr>
                        <a:t>02 · 기능 구현 소개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400">
                          <a:solidFill>
                            <a:srgbClr val="16213A"/>
                          </a:solidFill>
                          <a:latin typeface="맑은 고딕"/>
                        </a:rPr>
                        <a:t>Assembler·Checker·Executor 파이프라인 구조 + Chapter별 구현 기능 정리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A63"/>
                          </a:solidFill>
                          <a:latin typeface="맑은 고딕"/>
                        </a:rPr>
                        <a:t>03 · Best Practice 3선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400">
                          <a:solidFill>
                            <a:srgbClr val="16213A"/>
                          </a:solidFill>
                          <a:latin typeface="맑은 고딕"/>
                        </a:rPr>
                        <a:t>TDD 전략, 리팩토링 원칙, 한글 키워드 언어 설계 — 코드 리뷰로 확인한 근거 있는 사례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A63"/>
                          </a:solidFill>
                          <a:latin typeface="맑은 고딕"/>
                        </a:rPr>
                        <a:t>04 · 프로젝트 시연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400">
                          <a:solidFill>
                            <a:srgbClr val="16213A"/>
                          </a:solidFill>
                          <a:latin typeface="맑은 고딕"/>
                        </a:rPr>
                        <a:t>파일 · REPL · 디버그 모드 순서로 기능이 실제로 맞물려 동작하는 모습을 시연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A63"/>
                          </a:solidFill>
                          <a:latin typeface="맑은 고딕"/>
                        </a:rPr>
                        <a:t>05 · 소감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400">
                          <a:solidFill>
                            <a:srgbClr val="16213A"/>
                          </a:solidFill>
                          <a:latin typeface="맑은 고딕"/>
                        </a:rPr>
                        <a:t>조원별 한 줄 회고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329184"/>
            <a:ext cx="566928" cy="384048"/>
          </a:xfrm>
          <a:prstGeom prst="roundRect">
            <a:avLst>
              <a:gd name="adj" fmla="val 30000"/>
            </a:avLst>
          </a:prstGeom>
          <a:solidFill>
            <a:srgbClr val="14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56032"/>
            <a:ext cx="7863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조원 소개 및 역할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256032"/>
            <a:ext cx="3108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D8E1F7"/>
                </a:solidFill>
                <a:latin typeface="맑은 고딕"/>
              </a:rPr>
              <a:t>Team &amp; Roles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CFD9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CodeFab Interpreter · 5일차 발표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46520"/>
            <a:ext cx="126187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3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71600"/>
            <a:ext cx="45720" cy="685800"/>
          </a:xfrm>
          <a:prstGeom prst="rect">
            <a:avLst/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298448"/>
            <a:ext cx="107899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16213A"/>
                </a:solidFill>
                <a:latin typeface="맑은 고딕"/>
              </a:rPr>
              <a:t>이름은 커밋 로그 기준 자리표시자(Name1~5)이며, 역할은 실제 커밋 이력에서 확인한 담당 기능을 정리했습니다.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02920" y="2286000"/>
          <a:ext cx="11183111" cy="35661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789297"/>
                <a:gridCol w="9393814"/>
              </a:tblGrid>
              <a:tr h="5943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이름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담당 역할 (커밋 이력 기준)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42A63"/>
                          </a:solidFill>
                          <a:latin typeface="맑은 고딕"/>
                        </a:rPr>
                        <a:t>Name1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50">
                          <a:solidFill>
                            <a:srgbClr val="16213A"/>
                          </a:solidFill>
                          <a:latin typeface="맑은 고딕"/>
                        </a:rPr>
                        <a:t>파이프라인 통합 · CLI/REPL 진입점 · import(Ch.6) 기능 · 전체 통합 테스트(fixture) 총괄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42A63"/>
                          </a:solidFill>
                          <a:latin typeface="맑은 고딕"/>
                        </a:rPr>
                        <a:t>Name2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50">
                          <a:solidFill>
                            <a:srgbClr val="16213A"/>
                          </a:solidFill>
                          <a:latin typeface="맑은 고딕"/>
                        </a:rPr>
                        <a:t>토크나이저 &amp; 한글 키워드 매핑 · 디버그 모드(Ch.7 공장 제어 쉘) 구현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42A63"/>
                          </a:solidFill>
                          <a:latin typeface="맑은 고딕"/>
                        </a:rPr>
                        <a:t>Name3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50">
                          <a:solidFill>
                            <a:srgbClr val="16213A"/>
                          </a:solidFill>
                          <a:latin typeface="맑은 고딕"/>
                        </a:rPr>
                        <a:t>클래스(Ch.3) 기능 전체 구현(선언·필드·메서드·상속·instanceof) · Executor Unit 리팩토링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42A63"/>
                          </a:solidFill>
                          <a:latin typeface="맑은 고딕"/>
                        </a:rPr>
                        <a:t>Name4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50">
                          <a:solidFill>
                            <a:srgbClr val="16213A"/>
                          </a:solidFill>
                          <a:latin typeface="맑은 고딕"/>
                        </a:rPr>
                        <a:t>정적 배열(Ch.4) 구현 · 실행 전 최적화(Ch.5, Resolver/Optimizer) · 문법·타입힌트 리팩토링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42A63"/>
                          </a:solidFill>
                          <a:latin typeface="맑은 고딕"/>
                        </a:rPr>
                        <a:t>Name5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50">
                          <a:solidFill>
                            <a:srgbClr val="16213A"/>
                          </a:solidFill>
                          <a:latin typeface="맑은 고딕"/>
                        </a:rPr>
                        <a:t>Checker Unit 초기 설계(변수 스코프·에러 검출) · 에러 모듈 통합 · 함수(Ch.2) 기능 초기 구현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329184"/>
            <a:ext cx="566928" cy="384048"/>
          </a:xfrm>
          <a:prstGeom prst="roundRect">
            <a:avLst>
              <a:gd name="adj" fmla="val 30000"/>
            </a:avLst>
          </a:prstGeom>
          <a:solidFill>
            <a:srgbClr val="14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56032"/>
            <a:ext cx="7863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인터프리터 파이프라인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256032"/>
            <a:ext cx="3108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D8E1F7"/>
                </a:solidFill>
                <a:latin typeface="맑은 고딕"/>
              </a:rPr>
              <a:t>Architecture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CFD9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CodeFab Interpreter · 5일차 발표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46520"/>
            <a:ext cx="126187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4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71600"/>
            <a:ext cx="45720" cy="685800"/>
          </a:xfrm>
          <a:prstGeom prst="rect">
            <a:avLst/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298448"/>
            <a:ext cx="107899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16213A"/>
                </a:solidFill>
                <a:latin typeface="맑은 고딕"/>
              </a:rPr>
              <a:t>소스 코드 한 줄이 결과가 되기까지, Tokenizer → Assembler → Checker → Executor 4단을 통과합니다.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7463" y="2331720"/>
            <a:ext cx="1572768" cy="960120"/>
          </a:xfrm>
          <a:prstGeom prst="roundRect">
            <a:avLst>
              <a:gd name="adj" fmla="val 16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142A63"/>
                </a:solidFill>
                <a:latin typeface="맑은 고딕"/>
              </a:rPr>
              <a:t>소스</a:t>
            </a:r>
          </a:p>
          <a:p>
            <a:pPr algn="ctr"/>
            <a:r>
              <a:rPr sz="1350" b="1">
                <a:solidFill>
                  <a:srgbClr val="142A63"/>
                </a:solidFill>
                <a:latin typeface="맑은 고딕"/>
              </a:rPr>
              <a:t>(.laugh)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10231" y="2811779"/>
            <a:ext cx="256032" cy="0"/>
          </a:xfrm>
          <a:prstGeom prst="line">
            <a:avLst/>
          </a:prstGeom>
          <a:ln w="22225">
            <a:solidFill>
              <a:srgbClr val="142A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566263" y="2331720"/>
            <a:ext cx="1572768" cy="960120"/>
          </a:xfrm>
          <a:prstGeom prst="roundRect">
            <a:avLst>
              <a:gd name="adj" fmla="val 16000"/>
            </a:avLst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Tokenizer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39031" y="2811779"/>
            <a:ext cx="256032" cy="0"/>
          </a:xfrm>
          <a:prstGeom prst="line">
            <a:avLst/>
          </a:prstGeom>
          <a:ln w="22225">
            <a:solidFill>
              <a:srgbClr val="142A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395063" y="2331720"/>
            <a:ext cx="1572768" cy="960120"/>
          </a:xfrm>
          <a:prstGeom prst="roundRect">
            <a:avLst>
              <a:gd name="adj" fmla="val 16000"/>
            </a:avLst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Assembler</a:t>
            </a:r>
          </a:p>
          <a:p>
            <a:pPr algn="ctr"/>
            <a:r>
              <a:rPr sz="1350" b="1">
                <a:solidFill>
                  <a:srgbClr val="FFFFFF"/>
                </a:solidFill>
                <a:latin typeface="맑은 고딕"/>
              </a:rPr>
              <a:t>(Parser)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67831" y="2811779"/>
            <a:ext cx="256032" cy="0"/>
          </a:xfrm>
          <a:prstGeom prst="line">
            <a:avLst/>
          </a:prstGeom>
          <a:ln w="22225">
            <a:solidFill>
              <a:srgbClr val="142A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223863" y="2331720"/>
            <a:ext cx="1572768" cy="960120"/>
          </a:xfrm>
          <a:prstGeom prst="roundRect">
            <a:avLst>
              <a:gd name="adj" fmla="val 16000"/>
            </a:avLst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Checker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796631" y="2811779"/>
            <a:ext cx="256032" cy="0"/>
          </a:xfrm>
          <a:prstGeom prst="line">
            <a:avLst/>
          </a:prstGeom>
          <a:ln w="22225">
            <a:solidFill>
              <a:srgbClr val="142A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052663" y="2331720"/>
            <a:ext cx="1572768" cy="960120"/>
          </a:xfrm>
          <a:prstGeom prst="roundRect">
            <a:avLst>
              <a:gd name="adj" fmla="val 16000"/>
            </a:avLst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Executor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625431" y="2811779"/>
            <a:ext cx="256032" cy="0"/>
          </a:xfrm>
          <a:prstGeom prst="line">
            <a:avLst/>
          </a:prstGeom>
          <a:ln w="22225">
            <a:solidFill>
              <a:srgbClr val="142A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881463" y="2331720"/>
            <a:ext cx="1572768" cy="960120"/>
          </a:xfrm>
          <a:prstGeom prst="roundRect">
            <a:avLst>
              <a:gd name="adj" fmla="val 16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142A63"/>
                </a:solidFill>
                <a:latin typeface="맑은 고딕"/>
              </a:rPr>
              <a:t>출력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02920" y="3703320"/>
          <a:ext cx="11183111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578595"/>
                <a:gridCol w="7604516"/>
              </a:tblGrid>
              <a:tr h="762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끼어드는 단계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설명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Checker → (선택) Resolver/Optimizer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Ch.5 요구사항: 변수 정적 바인딩(distance 계산) + 리터럴 상수 폴딩을 Checker 통과 후 Executor 전에 수행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Assembler ↔ ModuleLoader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Ch.6 import 문을 만나면 대상 파일을 재귀적으로 어셈블·검증 후 현재 스코프에 값으로 바인딩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329184"/>
            <a:ext cx="566928" cy="384048"/>
          </a:xfrm>
          <a:prstGeom prst="roundRect">
            <a:avLst>
              <a:gd name="adj" fmla="val 30000"/>
            </a:avLst>
          </a:prstGeom>
          <a:solidFill>
            <a:srgbClr val="14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56032"/>
            <a:ext cx="7863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Chapter별 기능 구현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256032"/>
            <a:ext cx="3108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D8E1F7"/>
                </a:solidFill>
                <a:latin typeface="맑은 고딕"/>
              </a:rPr>
              <a:t>Feature Map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CFD9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CodeFab Interpreter · 5일차 발표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46520"/>
            <a:ext cx="126187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5 / 10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417320"/>
          <a:ext cx="11183111" cy="47091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789297"/>
                <a:gridCol w="9393814"/>
              </a:tblGrid>
              <a:tr h="58864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Chapter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구현 기능 (핵심 파일)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</a:tr>
              <a:tr h="588645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Ch.1 기초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변수 · 조건문 · 반복문 · 연산자 (tokenizer.py, checker.py, executor_unit.py)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  <a:tr h="588645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Ch.2 함수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함수 선언·호출·재귀·return (function_checker.py, function_executor.py, function_interpreter.py)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  <a:tr h="588645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Ch.3 클래스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선언·인스턴스·필드·메서드·this·생성자·상속·super·instanceof (executor_unit.py의 LaughClass/LaughInstance)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  <a:tr h="588645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Ch.4 배열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고정 크기 정적 배열, 인덱스 읽기/쓰기, 런타임 오류 검사 (array_nodes.py)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  <a:tr h="588645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Ch.5 최적화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정적 변수 바인딩(O(1) 조회), 상수 표현식 폴딩 (resolver.py, optimizer.py)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  <a:tr h="588645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Ch.6 import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파일 import, 별칭 바인딩, 순환/중복 import 검사 (module_loader.py)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  <a:tr h="588645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Ch.7 쉘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프롬프트(REPL) · 파일 · 디버그(step/breakpoint/watch) 3가지 실행 모드 (cli.py, app/repl.py, app/debug.py)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329184"/>
            <a:ext cx="566928" cy="384048"/>
          </a:xfrm>
          <a:prstGeom prst="roundRect">
            <a:avLst>
              <a:gd name="adj" fmla="val 30000"/>
            </a:avLst>
          </a:prstGeom>
          <a:solidFill>
            <a:srgbClr val="14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BP1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56032"/>
            <a:ext cx="7863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알려진 결함을 “실패하는 테스트”로 못박는다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256032"/>
            <a:ext cx="3108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D8E1F7"/>
                </a:solidFill>
                <a:latin typeface="맑은 고딕"/>
              </a:rPr>
              <a:t>BP 1/3 · TDD 전략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CFD9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CodeFab Interpreter · 5일차 발표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46520"/>
            <a:ext cx="126187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6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71600"/>
            <a:ext cx="45720" cy="685800"/>
          </a:xfrm>
          <a:prstGeom prst="rect">
            <a:avLst/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298448"/>
            <a:ext cx="107899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16213A"/>
                </a:solidFill>
                <a:latin typeface="맑은 고딕"/>
              </a:rPr>
              <a:t>TODO 주석 대신, 고쳐지지 않은 버그를 xfail(strict=True)로 실행 가능한 스펙으로 남긴다.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40280"/>
            <a:ext cx="5486400" cy="3611880"/>
          </a:xfrm>
          <a:prstGeom prst="roundRect">
            <a:avLst>
              <a:gd name="adj" fmla="val 4500"/>
            </a:avLst>
          </a:prstGeom>
          <a:solidFill>
            <a:srgbClr val="0F1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82880" bIns="182880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7FA8FF"/>
                </a:solidFill>
                <a:latin typeface="맑은 고딕"/>
              </a:rPr>
              <a:t>tests/integration/test_known_gaps_integration.py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@pytest.mark.xfail(strict=True, reason=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    "함수 기능이 codefab.cli가 쓰는 base Interpreter에 배선되지 않음")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def test_함수_선언과_호출_매개변수_전달(tmp_path):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7FA8FF"/>
                </a:solidFill>
                <a:latin typeface="Consolas"/>
              </a:rPr>
              <a:t>    # 지금은 실패해야 정상 — 원하는 최종 동작을 그대로 assert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    result = run_cli(script, cwd=tmp_path)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    assert result.stdout == "10\n"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263640" y="2240280"/>
          <a:ext cx="5440679" cy="36118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23390"/>
                <a:gridCol w="3917289"/>
              </a:tblGrid>
              <a:tr h="90297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효과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설명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</a:tr>
              <a:tr h="90297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실패 고정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지금은 실패해야 정상 — 우연한 XPASS와 진짜 회귀를 구분해준다.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  <a:tr h="90297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자동 승격 신호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버그가 고쳐지는 순간 XPASS로 CI가 스스로 실패 → “golden 테스트로 승격시켜라”는 신호가 사람의 기억력에 의존하지 않는다.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  <a:tr h="90297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근거까지 문서화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docstring에 원인 파일:줄, 실제 에러 클래스명까지 남겨 재현 없이도 원인이 읽힌다.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329184"/>
            <a:ext cx="566928" cy="384048"/>
          </a:xfrm>
          <a:prstGeom prst="roundRect">
            <a:avLst>
              <a:gd name="adj" fmla="val 30000"/>
            </a:avLst>
          </a:prstGeom>
          <a:solidFill>
            <a:srgbClr val="14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BP2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56032"/>
            <a:ext cx="7863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공통 로직은 그대로, 달라지는 지점만 훅으로 연다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256032"/>
            <a:ext cx="3108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D8E1F7"/>
                </a:solidFill>
                <a:latin typeface="맑은 고딕"/>
              </a:rPr>
              <a:t>BP 2/3 · 리팩토링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CFD9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CodeFab Interpreter · 5일차 발표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46520"/>
            <a:ext cx="126187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7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71600"/>
            <a:ext cx="45720" cy="685800"/>
          </a:xfrm>
          <a:prstGeom prst="rect">
            <a:avLst/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298448"/>
            <a:ext cx="107899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16213A"/>
                </a:solidFill>
                <a:latin typeface="맑은 고딕"/>
              </a:rPr>
              <a:t>베이스 클래스를 고치지 않고, 딱 한 지점을 훅으로 뽑아 서브클래스가 오버라이드하게 만든다.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40280"/>
            <a:ext cx="5486400" cy="3611880"/>
          </a:xfrm>
          <a:prstGeom prst="roundRect">
            <a:avLst>
              <a:gd name="adj" fmla="val 4500"/>
            </a:avLst>
          </a:prstGeom>
          <a:solidFill>
            <a:srgbClr val="0F1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82880" bIns="182880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7FA8FF"/>
                </a:solidFill>
                <a:latin typeface="맑은 고딕"/>
              </a:rPr>
              <a:t>codefab/checker.py → codefab/function_checker.py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7FA8FF"/>
                </a:solidFill>
                <a:latin typeface="Consolas"/>
              </a:rPr>
              <a:t># Checker: 메서드 순회 로직을 훅 하나로 분리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def _visit_method_body(self, method) -&gt; None: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    for statement in method.body: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        statement.accept(self)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/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7FA8FF"/>
                </a:solidFill>
                <a:latin typeface="Consolas"/>
              </a:rPr>
              <a:t># FunctionChecker: 이 훅 하나만 오버라이드해서 확장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def _visit_method_body(self, method) -&gt; None: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    self.function_depth += 1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    try: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        super()._visit_method_body(method)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    finally: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        self.function_depth -= 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263640" y="2240280"/>
          <a:ext cx="5440679" cy="36118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23390"/>
                <a:gridCol w="3917289"/>
              </a:tblGrid>
              <a:tr h="90297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원칙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적용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</a:tr>
              <a:tr h="90297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개방-폐쇄 원칙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Checker의 기존 코드는 한 줄도 안 건드리고 FunctionChecker만 확장했다.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  <a:tr h="90297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단일 진입점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“메서드 본문을 어떻게 순회하는가”가 코드베이스 전체에서 딱 한 곳에만 존재한다.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  <a:tr h="90297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회귀 위험 최소화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기존 클래스 검사 동작은 그대로 보존된 채로 “메서드 내부 반환” 지원이 추가됐다.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329184"/>
            <a:ext cx="566928" cy="384048"/>
          </a:xfrm>
          <a:prstGeom prst="roundRect">
            <a:avLst>
              <a:gd name="adj" fmla="val 30000"/>
            </a:avLst>
          </a:prstGeom>
          <a:solidFill>
            <a:srgbClr val="14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BP3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56032"/>
            <a:ext cx="7863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다국어 표기는 렉서 한 층에서 끝낸다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256032"/>
            <a:ext cx="3108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D8E1F7"/>
                </a:solidFill>
                <a:latin typeface="맑은 고딕"/>
              </a:rPr>
              <a:t>BP 3/3 · 언어 설계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CFD9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CodeFab Interpreter · 5일차 발표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46520"/>
            <a:ext cx="126187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8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71600"/>
            <a:ext cx="45720" cy="685800"/>
          </a:xfrm>
          <a:prstGeom prst="rect">
            <a:avLst/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298448"/>
            <a:ext cx="107899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16213A"/>
                </a:solidFill>
                <a:latin typeface="맑은 고딕"/>
              </a:rPr>
              <a:t>한글·영어 표기는 토크나이저에서만 구분하고, 그 아래 계층은 표기 언어를 몰라도 되게 만든다.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40280"/>
            <a:ext cx="5486400" cy="3611880"/>
          </a:xfrm>
          <a:prstGeom prst="roundRect">
            <a:avLst>
              <a:gd name="adj" fmla="val 4500"/>
            </a:avLst>
          </a:prstGeom>
          <a:solidFill>
            <a:srgbClr val="0F1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82880" bIns="182880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7FA8FF"/>
                </a:solidFill>
                <a:latin typeface="맑은 고딕"/>
              </a:rPr>
              <a:t>codefab/tokens.py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KEYWORDS = {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    "var": TokenType.VAR,       "변수": TokenType.VAR,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    "class": TokenType.CLASS,   "클래스": TokenType.CLASS,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    "func": TokenType.FUN,      "함수": TokenType.FUN,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    "return": TokenType.RETURN, "반환": TokenType.RETURN,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}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7FA8FF"/>
                </a:solidFill>
                <a:latin typeface="Consolas"/>
              </a:rPr>
              <a:t># AST / Checker / Executor는 TokenType만 보고, 표기는 신경 쓰지 않는다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263640" y="2240280"/>
          <a:ext cx="5440679" cy="36118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23390"/>
                <a:gridCol w="3917289"/>
              </a:tblGrid>
              <a:tr h="90297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계층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언어 인식 여부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</a:tr>
              <a:tr h="90297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Tokenizer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한글·영어 표기를 모두 인식해 같은 TokenType으로 통일한다.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  <a:tr h="90297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AST / Checker / Executor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표기 언어와 완전히 무관 — TokenType enum 값만 보고 동작한다.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  <a:tr h="90297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확장 비용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새 표기를 추가할 때 KEYWORDS 테이블 한 줄만 고치면 된다. 실제로 func/return이 함수/반환과 동일하게 동작함을 테스트로 검증했다.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329184"/>
            <a:ext cx="566928" cy="384048"/>
          </a:xfrm>
          <a:prstGeom prst="roundRect">
            <a:avLst>
              <a:gd name="adj" fmla="val 30000"/>
            </a:avLst>
          </a:prstGeom>
          <a:solidFill>
            <a:srgbClr val="14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56032"/>
            <a:ext cx="7863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프로젝트 시연 시나리오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256032"/>
            <a:ext cx="3108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D8E1F7"/>
                </a:solidFill>
                <a:latin typeface="맑은 고딕"/>
              </a:rPr>
              <a:t>Live Demo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CFD9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CodeFab Interpreter · 5일차 발표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46520"/>
            <a:ext cx="126187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9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71600"/>
            <a:ext cx="45720" cy="685800"/>
          </a:xfrm>
          <a:prstGeom prst="rect">
            <a:avLst/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298448"/>
            <a:ext cx="107899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16213A"/>
                </a:solidFill>
                <a:latin typeface="맑은 고딕"/>
              </a:rPr>
              <a:t>파일 모드 → REPL → 디버그 모드 순서로, Chapter 1~7 기능이 실제로 맞물려 동작하는 모습을 보여줍니다.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02920" y="2286000"/>
          <a:ext cx="11183111" cy="35661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236622"/>
                <a:gridCol w="8946489"/>
              </a:tblGrid>
              <a:tr h="5943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순서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보여줄 내용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42A63"/>
                          </a:solidFill>
                          <a:latin typeface="맑은 고딕"/>
                        </a:rPr>
                        <a:t>1. 파일 모드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50">
                          <a:solidFill>
                            <a:srgbClr val="16213A"/>
                          </a:solidFill>
                          <a:latin typeface="맑은 고딕"/>
                        </a:rPr>
                        <a:t>`codefab run`으로 클래스+함수+상속이 함께 있는 예제 실행 → 정상 출력 확인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42A63"/>
                          </a:solidFill>
                          <a:latin typeface="맑은 고딕"/>
                        </a:rPr>
                        <a:t>2. REPL 모드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50">
                          <a:solidFill>
                            <a:srgbClr val="16213A"/>
                          </a:solidFill>
                          <a:latin typeface="맑은 고딕"/>
                        </a:rPr>
                        <a:t>변수 선언·조건문을 한 줄씩 입력해 대화형으로 실행하는 모습 시연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42A63"/>
                          </a:solidFill>
                          <a:latin typeface="맑은 고딕"/>
                        </a:rPr>
                        <a:t>3. 디버그 모드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50">
                          <a:solidFill>
                            <a:srgbClr val="16213A"/>
                          </a:solidFill>
                          <a:latin typeface="맑은 고딕"/>
                        </a:rPr>
                        <a:t>`codefab debug`에서 step/breakpoint/watch로 함수 호출과 변수 변화를 실시간 관찰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42A63"/>
                          </a:solidFill>
                          <a:latin typeface="맑은 고딕"/>
                        </a:rPr>
                        <a:t>4. import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50">
                          <a:solidFill>
                            <a:srgbClr val="16213A"/>
                          </a:solidFill>
                          <a:latin typeface="맑은 고딕"/>
                        </a:rPr>
                        <a:t>분리된 모듈(.laugh) 파일을 불러와 변수·함수를 재사용하는 예제 실행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42A63"/>
                          </a:solidFill>
                          <a:latin typeface="맑은 고딕"/>
                        </a:rPr>
                        <a:t>5. 에러 케이스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50">
                          <a:solidFill>
                            <a:srgbClr val="16213A"/>
                          </a:solidFill>
                          <a:latin typeface="맑은 고딕"/>
                        </a:rPr>
                        <a:t>의도적으로 잘못된 스크립트 실행 → 정확한 한글 에러 메시지와 줄 번호 확인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329184"/>
            <a:ext cx="566928" cy="384048"/>
          </a:xfrm>
          <a:prstGeom prst="roundRect">
            <a:avLst>
              <a:gd name="adj" fmla="val 30000"/>
            </a:avLst>
          </a:prstGeom>
          <a:solidFill>
            <a:srgbClr val="14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56032"/>
            <a:ext cx="7863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소감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256032"/>
            <a:ext cx="3108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D8E1F7"/>
                </a:solidFill>
                <a:latin typeface="맑은 고딕"/>
              </a:rPr>
              <a:t>Retrospective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CFD9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CodeFab Interpreter · 5일차 발표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46520"/>
            <a:ext cx="126187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10 / 10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417320"/>
          <a:ext cx="11183111" cy="4297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65635"/>
                <a:gridCol w="9617476"/>
              </a:tblGrid>
              <a:tr h="7162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이름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소감 (초안 — 발표 전 자유롭게 수정)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42A63"/>
                          </a:solidFill>
                          <a:latin typeface="맑은 고딕"/>
                        </a:rPr>
                        <a:t>Name1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50">
                          <a:solidFill>
                            <a:srgbClr val="16213A"/>
                          </a:solidFill>
                          <a:latin typeface="맑은 고딕"/>
                        </a:rPr>
                        <a:t>여러 브랜치를 하나의 파이프라인으로 배선하면서, 통합 테스트가 왜 필요한지 몸으로 느꼈다.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42A63"/>
                          </a:solidFill>
                          <a:latin typeface="맑은 고딕"/>
                        </a:rPr>
                        <a:t>Name2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50">
                          <a:solidFill>
                            <a:srgbClr val="16213A"/>
                          </a:solidFill>
                          <a:latin typeface="맑은 고딕"/>
                        </a:rPr>
                        <a:t>한글 키워드 하나 추가하는 것도 토크나이저 설계가 받쳐줘야 쉬워진다는 걸 알았다.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42A63"/>
                          </a:solidFill>
                          <a:latin typeface="맑은 고딕"/>
                        </a:rPr>
                        <a:t>Name3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50">
                          <a:solidFill>
                            <a:srgbClr val="16213A"/>
                          </a:solidFill>
                          <a:latin typeface="맑은 고딕"/>
                        </a:rPr>
                        <a:t>클래스 기능을 만들고 나서야 this/super 바인딩 같은 작은 디테일이 큰 버그로 이어진다는 걸 체감했다.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42A63"/>
                          </a:solidFill>
                          <a:latin typeface="맑은 고딕"/>
                        </a:rPr>
                        <a:t>Name4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50">
                          <a:solidFill>
                            <a:srgbClr val="16213A"/>
                          </a:solidFill>
                          <a:latin typeface="맑은 고딕"/>
                        </a:rPr>
                        <a:t>최적화는 정답을 바꾸지 않는 선에서만 해야 한다는 원칙을 지키는 게 생각보다 까다로웠다.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42A63"/>
                          </a:solidFill>
                          <a:latin typeface="맑은 고딕"/>
                        </a:rPr>
                        <a:t>Name5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50">
                          <a:solidFill>
                            <a:srgbClr val="16213A"/>
                          </a:solidFill>
                          <a:latin typeface="맑은 고딕"/>
                        </a:rPr>
                        <a:t>Checker를 제일 먼저 설계해두니, 뒤에 오는 기능들이 그 위에 안전하게 쌓일 수 있었다.</a:t>
                      </a:r>
                    </a:p>
                  </a:txBody>
                  <a:tcPr anchor="t" marL="109728" marR="109728" marT="91440" marB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5806440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6B8C"/>
                </a:solidFill>
                <a:latin typeface="맑은 고딕"/>
              </a:rPr>
              <a:t>* 자리표시자(Name1~5)와 소감 초안입니다 — 실제 이름과 각자의 생각으로 바꿔서 사용하세요.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