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67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62" r:id="rId11"/>
    <p:sldId id="263" r:id="rId12"/>
    <p:sldId id="275" r:id="rId13"/>
    <p:sldId id="27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280160" y="-1280160"/>
            <a:ext cx="3108960" cy="3108960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92640" y="5120640"/>
            <a:ext cx="3840480" cy="2377440"/>
          </a:xfrm>
          <a:prstGeom prst="ellipse">
            <a:avLst/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96012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5일차 발표 · CodeFab Interpreter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96012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F3C88"/>
                </a:solidFill>
                <a:latin typeface="맑은 고딕"/>
              </a:rPr>
              <a:t>CodeFab Interpreter</a:t>
            </a:r>
          </a:p>
          <a:p>
            <a:pPr algn="l">
              <a:lnSpc>
                <a:spcPct val="115000"/>
              </a:lnSpc>
            </a:pPr>
            <a:r>
              <a:rPr sz="3800" b="1">
                <a:solidFill>
                  <a:srgbClr val="1F3C88"/>
                </a:solidFill>
                <a:latin typeface="맑은 고딕"/>
              </a:rPr>
              <a:t>프로젝트 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37560"/>
            <a:ext cx="7863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b="0">
                <a:solidFill>
                  <a:srgbClr val="5B6B8C"/>
                </a:solidFill>
                <a:latin typeface="맑은 고딕"/>
              </a:rPr>
              <a:t>변수·조건문부터 함수·클래스·배열·모듈까지 —</a:t>
            </a:r>
          </a:p>
          <a:p>
            <a:pPr algn="l">
              <a:lnSpc>
                <a:spcPct val="145000"/>
              </a:lnSpc>
            </a:pPr>
            <a:r>
              <a:rPr sz="1550" b="0">
                <a:solidFill>
                  <a:srgbClr val="5B6B8C"/>
                </a:solidFill>
                <a:latin typeface="맑은 고딕"/>
              </a:rPr>
              <a:t>Assembler · Checker · Executor 3단 파이프라인으로 완성한 한글 인터프리터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9525">
            <a:solidFill>
              <a:srgbClr val="CF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Ins="146304" rtlCol="0" anchor="ctr"/>
          <a:lstStyle/>
          <a:p>
            <a:pPr algn="ctr"/>
            <a:r>
              <a:rPr sz="1200" b="1">
                <a:solidFill>
                  <a:srgbClr val="142A63"/>
                </a:solidFill>
                <a:latin typeface="맑은 고딕"/>
              </a:rPr>
              <a:t>조원 소개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4832" y="429768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9525">
            <a:solidFill>
              <a:srgbClr val="CF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Ins="146304" rtlCol="0" anchor="ctr"/>
          <a:lstStyle/>
          <a:p>
            <a:pPr algn="ctr"/>
            <a:r>
              <a:rPr sz="1200" b="1">
                <a:solidFill>
                  <a:srgbClr val="142A63"/>
                </a:solidFill>
                <a:latin typeface="맑은 고딕"/>
              </a:rPr>
              <a:t>구조 설계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429768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9525">
            <a:solidFill>
              <a:srgbClr val="CF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Ins="146304" rtlCol="0" anchor="ctr"/>
          <a:lstStyle/>
          <a:p>
            <a:pPr algn="ctr"/>
            <a:r>
              <a:rPr sz="1200" b="1" dirty="0">
                <a:solidFill>
                  <a:srgbClr val="142A63"/>
                </a:solidFill>
                <a:latin typeface="맑은 고딕"/>
              </a:rPr>
              <a:t>BP </a:t>
            </a:r>
            <a:r>
              <a:rPr lang="ko-KR" altLang="en-US" sz="1200" b="1" dirty="0">
                <a:solidFill>
                  <a:srgbClr val="142A63"/>
                </a:solidFill>
                <a:latin typeface="맑은 고딕"/>
              </a:rPr>
              <a:t>사례</a:t>
            </a:r>
            <a:endParaRPr sz="1200" b="1" dirty="0">
              <a:solidFill>
                <a:srgbClr val="142A63"/>
              </a:solidFill>
              <a:latin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608576" y="4297680"/>
            <a:ext cx="1456946" cy="40233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9525">
            <a:solidFill>
              <a:srgbClr val="CF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Ins="146304" rtlCol="0" anchor="ctr"/>
          <a:lstStyle/>
          <a:p>
            <a:pPr algn="ctr"/>
            <a:r>
              <a:rPr sz="1200" b="1">
                <a:solidFill>
                  <a:srgbClr val="142A63"/>
                </a:solidFill>
                <a:latin typeface="맑은 고딕"/>
              </a:rPr>
              <a:t>프로젝트 시연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0114" y="4297680"/>
            <a:ext cx="1112794" cy="40233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9525">
            <a:solidFill>
              <a:srgbClr val="CFD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Ins="146304" rtlCol="0" anchor="ctr"/>
          <a:lstStyle/>
          <a:p>
            <a:pPr algn="ctr"/>
            <a:r>
              <a:rPr sz="1200" b="1">
                <a:solidFill>
                  <a:srgbClr val="142A63"/>
                </a:solidFill>
                <a:latin typeface="맑은 고딕"/>
              </a:rPr>
              <a:t>소감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Agenda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2 / 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3800734"/>
              </p:ext>
            </p:extLst>
          </p:nvPr>
        </p:nvGraphicFramePr>
        <p:xfrm>
          <a:off x="502920" y="1417320"/>
          <a:ext cx="11183111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549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81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42A63"/>
                          </a:solidFill>
                          <a:latin typeface="맑은 고딕"/>
                        </a:rPr>
                        <a:t>01 · 조원 소개 및 역할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1400" dirty="0">
                          <a:solidFill>
                            <a:srgbClr val="16213A"/>
                          </a:solidFill>
                          <a:latin typeface="맑은 고딕"/>
                        </a:rPr>
                        <a:t>조원 소개 및 </a:t>
                      </a:r>
                      <a:r>
                        <a:rPr sz="140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역할</a:t>
                      </a:r>
                      <a:endParaRPr sz="1400" dirty="0">
                        <a:solidFill>
                          <a:srgbClr val="16213A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42A63"/>
                          </a:solidFill>
                          <a:latin typeface="맑은 고딕"/>
                        </a:rPr>
                        <a:t>02 · 기능 구현 소개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400">
                          <a:solidFill>
                            <a:srgbClr val="16213A"/>
                          </a:solidFill>
                          <a:latin typeface="맑은 고딕"/>
                        </a:rPr>
                        <a:t>Assembler·Checker·Executor 파이프라인 구조 + Chapter별 구현 기능 정리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42A63"/>
                          </a:solidFill>
                          <a:latin typeface="맑은 고딕"/>
                        </a:rPr>
                        <a:t>03 · Best Practice 4선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400">
                          <a:solidFill>
                            <a:srgbClr val="16213A"/>
                          </a:solidFill>
                          <a:latin typeface="맑은 고딕"/>
                        </a:rPr>
                        <a:t>실제 GitHub 리뷰 이력(PR #91/#65/#69/#64) 기준 — 알려진 한계 문서화, 실행 검증, 재현 가능한 코멘트, 설계 이유 기록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42A63"/>
                          </a:solidFill>
                          <a:latin typeface="맑은 고딕"/>
                        </a:rPr>
                        <a:t>04 · 프로젝트 시연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400">
                          <a:solidFill>
                            <a:srgbClr val="16213A"/>
                          </a:solidFill>
                          <a:latin typeface="맑은 고딕"/>
                        </a:rPr>
                        <a:t>파일 · REPL · 디버그 모드 순서로 기능이 실제로 맞물려 동작하는 모습을 시연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42A63"/>
                          </a:solidFill>
                          <a:latin typeface="맑은 고딕"/>
                        </a:rPr>
                        <a:t>05 · 소감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40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조원별</a:t>
                      </a:r>
                      <a:r>
                        <a:rPr sz="1400" dirty="0">
                          <a:solidFill>
                            <a:srgbClr val="16213A"/>
                          </a:solidFill>
                          <a:latin typeface="맑은 고딕"/>
                        </a:rPr>
                        <a:t> 한 줄 </a:t>
                      </a:r>
                      <a:r>
                        <a:rPr sz="140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회고</a:t>
                      </a:r>
                      <a:endParaRPr sz="1400" dirty="0">
                        <a:solidFill>
                          <a:srgbClr val="16213A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조원 소개 및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Team &amp; Roles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3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558604"/>
            <a:ext cx="10789920" cy="3026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1700" b="1" dirty="0" err="1">
                <a:solidFill>
                  <a:srgbClr val="16213A"/>
                </a:solidFill>
                <a:latin typeface="맑은 고딕"/>
              </a:rPr>
              <a:t>팀명</a:t>
            </a:r>
            <a:r>
              <a:rPr lang="en-US" altLang="ko-KR" sz="1700" b="1" dirty="0">
                <a:solidFill>
                  <a:srgbClr val="16213A"/>
                </a:solidFill>
                <a:latin typeface="맑은 고딕"/>
              </a:rPr>
              <a:t>: Bug Hunters</a:t>
            </a:r>
            <a:endParaRPr sz="1700" b="1" dirty="0">
              <a:solidFill>
                <a:srgbClr val="16213A"/>
              </a:solidFill>
              <a:latin typeface="맑은 고딕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8094"/>
              </p:ext>
            </p:extLst>
          </p:nvPr>
        </p:nvGraphicFramePr>
        <p:xfrm>
          <a:off x="502920" y="2286000"/>
          <a:ext cx="11183111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9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3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담당 역할 (커밋 이력 기준)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lang="ko-KR" altLang="en-US" sz="1350" b="1" dirty="0" err="1">
                          <a:solidFill>
                            <a:srgbClr val="142A63"/>
                          </a:solidFill>
                          <a:latin typeface="맑은 고딕"/>
                        </a:rPr>
                        <a:t>김병남</a:t>
                      </a:r>
                      <a:endParaRPr sz="1350" b="1" dirty="0">
                        <a:solidFill>
                          <a:srgbClr val="142A63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파이프라인 통합 · CLI/REPL 진입점 · import(Ch.6) 기능 · 전체 통합 테스트(fixture) 총괄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lang="ko-KR" altLang="en-US" sz="1350" b="1" dirty="0" err="1">
                          <a:solidFill>
                            <a:srgbClr val="142A63"/>
                          </a:solidFill>
                          <a:latin typeface="맑은 고딕"/>
                        </a:rPr>
                        <a:t>조승주</a:t>
                      </a:r>
                      <a:endParaRPr sz="1350" b="1" dirty="0">
                        <a:solidFill>
                          <a:srgbClr val="142A63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토크나이저 &amp; 한글 키워드 매핑 · 디버그 모드(Ch.7 공장 제어 쉘) 구현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lang="ko-KR" altLang="en-US" sz="1350" b="1" dirty="0" err="1">
                          <a:solidFill>
                            <a:srgbClr val="142A63"/>
                          </a:solidFill>
                          <a:latin typeface="맑은 고딕"/>
                        </a:rPr>
                        <a:t>이하섭</a:t>
                      </a:r>
                      <a:endParaRPr sz="1350" b="1" dirty="0">
                        <a:solidFill>
                          <a:srgbClr val="142A63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클래스(Ch.3) 기능 전체 구현(선언·필드·메서드·상속·instanceof) · Executor Unit 리팩토링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lang="ko-KR" altLang="en-US" sz="1350" b="1" dirty="0">
                          <a:solidFill>
                            <a:srgbClr val="142A63"/>
                          </a:solidFill>
                          <a:latin typeface="맑은 고딕"/>
                        </a:rPr>
                        <a:t>최현준</a:t>
                      </a:r>
                      <a:endParaRPr sz="1350" b="1" dirty="0">
                        <a:solidFill>
                          <a:srgbClr val="142A63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정적 배열(Ch.4) 구현 · 실행 전 최적화(Ch.5, Resolver/Optimizer) · 문법·타입힌트 리팩토링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lang="ko-KR" altLang="en-US" sz="1350" b="1" dirty="0">
                          <a:solidFill>
                            <a:srgbClr val="142A63"/>
                          </a:solidFill>
                          <a:latin typeface="맑은 고딕"/>
                        </a:rPr>
                        <a:t>이준원</a:t>
                      </a:r>
                      <a:endParaRPr sz="1350" b="1" dirty="0">
                        <a:solidFill>
                          <a:srgbClr val="142A63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Checker Unit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초기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설계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(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변수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스코프·에러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검출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) ·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에러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모듈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통합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·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함수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(Ch.2)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기능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초기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구현</a:t>
                      </a:r>
                      <a:endParaRPr sz="1350" dirty="0">
                        <a:solidFill>
                          <a:srgbClr val="16213A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인터프리터 파이프라인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Architecture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4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소스 코드 한 줄이 결과가 되기까지, Tokenizer → Assembler → Checker → Executor 4단을 통과합니다.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74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142A63"/>
                </a:solidFill>
                <a:latin typeface="맑은 고딕"/>
              </a:rPr>
              <a:t>소스</a:t>
            </a:r>
          </a:p>
          <a:p>
            <a:pPr algn="ctr"/>
            <a:r>
              <a:rPr sz="1350" b="1">
                <a:solidFill>
                  <a:srgbClr val="142A63"/>
                </a:solidFill>
                <a:latin typeface="맑은 고딕"/>
              </a:rPr>
              <a:t>(.laugh)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10231" y="2811779"/>
            <a:ext cx="256032" cy="0"/>
          </a:xfrm>
          <a:prstGeom prst="line">
            <a:avLst/>
          </a:prstGeom>
          <a:ln w="22225">
            <a:solidFill>
              <a:srgbClr val="142A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5662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Tokenizer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39031" y="2811779"/>
            <a:ext cx="256032" cy="0"/>
          </a:xfrm>
          <a:prstGeom prst="line">
            <a:avLst/>
          </a:prstGeom>
          <a:ln w="22225">
            <a:solidFill>
              <a:srgbClr val="142A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950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Assembler</a:t>
            </a:r>
          </a:p>
          <a:p>
            <a:pPr algn="ctr"/>
            <a:r>
              <a:rPr sz="1350" b="1">
                <a:solidFill>
                  <a:srgbClr val="FFFFFF"/>
                </a:solidFill>
                <a:latin typeface="맑은 고딕"/>
              </a:rPr>
              <a:t>(Parser)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67831" y="2811779"/>
            <a:ext cx="256032" cy="0"/>
          </a:xfrm>
          <a:prstGeom prst="line">
            <a:avLst/>
          </a:prstGeom>
          <a:ln w="22225">
            <a:solidFill>
              <a:srgbClr val="142A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238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Checker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96631" y="2811779"/>
            <a:ext cx="256032" cy="0"/>
          </a:xfrm>
          <a:prstGeom prst="line">
            <a:avLst/>
          </a:prstGeom>
          <a:ln w="22225">
            <a:solidFill>
              <a:srgbClr val="142A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526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Executor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25431" y="2811779"/>
            <a:ext cx="256032" cy="0"/>
          </a:xfrm>
          <a:prstGeom prst="line">
            <a:avLst/>
          </a:prstGeom>
          <a:ln w="22225">
            <a:solidFill>
              <a:srgbClr val="142A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81463" y="2331720"/>
            <a:ext cx="1572768" cy="960120"/>
          </a:xfrm>
          <a:prstGeom prst="roundRect">
            <a:avLst>
              <a:gd name="adj" fmla="val 1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142A63"/>
                </a:solidFill>
                <a:latin typeface="맑은 고딕"/>
              </a:rPr>
              <a:t>출력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2920" y="3703320"/>
          <a:ext cx="11183111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78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45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끼어드는 단계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Checker → (선택) Resolver/Optimizer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Ch.5 요구사항: 변수 정적 바인딩(distance 계산) + 리터럴 상수 폴딩을 Checker 통과 후 Executor 전에 수행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Assembler ↔ ModuleLoader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Ch.6 import 문을 만나면 대상 파일을 재귀적으로 어셈블·검증 후 현재 스코프에 값으로 바인딩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Chapter별 기능 구현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Feature 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5 / 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17320"/>
          <a:ext cx="11183111" cy="4709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9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3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864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Chapter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구현 기능 (핵심 파일)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Ch.1 기초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변수 · 조건문 · 반복문 · 연산자 (tokenizer.py, checker.py, executor_unit.py)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Ch.2 함수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함수 선언·호출·재귀·return (function_checker.py, function_executor.py, function_interpreter.py)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Ch.3 클래스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선언·인스턴스·필드·메서드·this·생성자·상속·super·instanceof (executor_unit.py의 LaughClass/LaughInstance)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Ch.4 배열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고정 크기 정적 배열, 인덱스 읽기/쓰기, 런타임 오류 검사 (array_nodes.py)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Ch.5 최적화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정적 변수 바인딩(O(1) 조회), 상수 표현식 폴딩 (resolver.py, optimizer.py)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Ch.6 import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파일 import, 별칭 바인딩, 순환/중복 import 검사 (module_loader.py)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Ch.7 쉘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프롬프트(REPL) · 파일 · 디버그(step/breakpoint/watch) 3가지 실행 모드 (cli.py, app/repl.py, app/debug.py)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BP1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알려진 결함을 “실패하는 테스트”로 못박는다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33947"/>
            <a:ext cx="3108960" cy="1928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dirty="0">
                <a:solidFill>
                  <a:srgbClr val="D8E1F7"/>
                </a:solidFill>
                <a:latin typeface="맑은 고딕"/>
              </a:rPr>
              <a:t>BP 1/</a:t>
            </a:r>
            <a:r>
              <a:rPr lang="en-US" sz="1200" b="1" dirty="0">
                <a:solidFill>
                  <a:srgbClr val="D8E1F7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 · TDD </a:t>
            </a:r>
            <a:r>
              <a:rPr sz="1200" b="1" dirty="0" err="1">
                <a:solidFill>
                  <a:srgbClr val="D8E1F7"/>
                </a:solidFill>
                <a:latin typeface="맑은 고딕"/>
              </a:rPr>
              <a:t>전략</a:t>
            </a:r>
            <a:endParaRPr sz="1200" b="1" dirty="0">
              <a:solidFill>
                <a:srgbClr val="D8E1F7"/>
              </a:solidFill>
              <a:latin typeface="맑은 고딕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6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PR #91: 고치지 않은 버그를 방치하는 대신, xfail(strict=True)로 실패 자체를 스펙으로 남긴다.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0280"/>
            <a:ext cx="5486400" cy="3611880"/>
          </a:xfrm>
          <a:prstGeom prst="roundRect">
            <a:avLst>
              <a:gd name="adj" fmla="val 4500"/>
            </a:avLst>
          </a:prstGeom>
          <a:solidFill>
            <a:srgbClr val="0F1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Ins="256032" bIns="18288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7FA8FF"/>
                </a:solidFill>
                <a:latin typeface="맑은 고딕"/>
              </a:rPr>
              <a:t>PR #91 · tests/integration/test_known_gaps_integration.py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@pytest.mark.xfail(strict=True, reason=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"함수 기능이 codefab.cli가 쓰는 base Interpreter에 배선되지 않음")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def test_함수_선언과_호출_매개변수_전달(tmp_path):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    # 지금은 실패해야 정상 — 원하는 최종 동작을 그대로 assert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result = run_cli(script, cwd=tmp_path)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assert result.stdout == "10\n"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2240280"/>
          <a:ext cx="5440679" cy="3611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3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7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29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실패 고정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지금은 실패해야 정상 — 우연한 XPASS와 진짜 회귀를 구분해준다.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자동 승격 신호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버그가 고쳐지는 순간 XPASS로 CI가 스스로 실패 → “golden 테스트로 승격시켜라”는 신호가 사람의 기억력에 의존하지 않는다.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추적성 연결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이후 Issue #93(print 다중값 미지원)처럼 실제 이슈로도 등록되어 별도로 추적된다.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BP2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리뷰는 “읽기”가 아니라 “실행”으로 끝낸다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33947"/>
            <a:ext cx="3108960" cy="1928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dirty="0">
                <a:solidFill>
                  <a:srgbClr val="D8E1F7"/>
                </a:solidFill>
                <a:latin typeface="맑은 고딕"/>
              </a:rPr>
              <a:t>BP 2/</a:t>
            </a:r>
            <a:r>
              <a:rPr lang="en-US" sz="1200" b="1" dirty="0">
                <a:solidFill>
                  <a:srgbClr val="D8E1F7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 · </a:t>
            </a:r>
            <a:r>
              <a:rPr sz="1200" b="1" dirty="0" err="1">
                <a:solidFill>
                  <a:srgbClr val="D8E1F7"/>
                </a:solidFill>
                <a:latin typeface="맑은 고딕"/>
              </a:rPr>
              <a:t>리뷰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D8E1F7"/>
                </a:solidFill>
                <a:latin typeface="맑은 고딕"/>
              </a:rPr>
              <a:t>문화</a:t>
            </a:r>
            <a:endParaRPr sz="1200" b="1" dirty="0">
              <a:solidFill>
                <a:srgbClr val="D8E1F7"/>
              </a:solidFill>
              <a:latin typeface="맑은 고딕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7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PR #65: 파서 결과만 보지 않고 실제로 인터프리터를 돌려봐야 파이프라인 전체가 동작하는지 알 수 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0280"/>
            <a:ext cx="5486400" cy="3611880"/>
          </a:xfrm>
          <a:prstGeom prst="roundRect">
            <a:avLst>
              <a:gd name="adj" fmla="val 4500"/>
            </a:avLst>
          </a:prstGeom>
          <a:solidFill>
            <a:srgbClr val="0F1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Ins="256032" bIns="18288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7FA8FF"/>
                </a:solidFill>
                <a:latin typeface="맑은 고딕"/>
              </a:rPr>
              <a:t>PR #65 · 가져오기(import) 통합 누락(wiring gap) 발견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리뷰어(kimbyungnam):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Interpreter().interpret(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'가져오기 "sum.txt" 별칭 sum;')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→ Checker에 visit_import_stmt가 없어 런타임 에러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endParaRPr sz="1250">
              <a:solidFill>
                <a:srgbClr val="DBE6FF"/>
              </a:solidFill>
              <a:latin typeface="Consolas"/>
            </a:endParaRP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작성자: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이번 PR은 파싱까지만, Checker/Executor는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다음 PR에서 순차 연결하겠습니다.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2240280"/>
          <a:ext cx="5440679" cy="3611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3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7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29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확인 관점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실행 기반 검증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테스트가 파서 결과만 검증하면, 파이프라인 전체가 동작한다는 보장이 안 된다.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스코프 명확화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리뷰에서 발견된 갭엔 “이번 PR 범위 아님”을 명확히 답하고 다음 PR로 넘긴다.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반복되는 패턴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CLAUDE.md의 “함수는 기본 파이프라인에 배선되지 않았다” 경고와 동일한 패턴.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BP3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무엇이 왜 틀렸는지, 재현 예시로 짚는다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33947"/>
            <a:ext cx="3108960" cy="1928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dirty="0">
                <a:solidFill>
                  <a:srgbClr val="D8E1F7"/>
                </a:solidFill>
                <a:latin typeface="맑은 고딕"/>
              </a:rPr>
              <a:t>BP 3/</a:t>
            </a:r>
            <a:r>
              <a:rPr lang="en-US" sz="1200" b="1" dirty="0">
                <a:solidFill>
                  <a:srgbClr val="D8E1F7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 · </a:t>
            </a:r>
            <a:r>
              <a:rPr sz="1200" b="1" dirty="0" err="1">
                <a:solidFill>
                  <a:srgbClr val="D8E1F7"/>
                </a:solidFill>
                <a:latin typeface="맑은 고딕"/>
              </a:rPr>
              <a:t>리뷰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D8E1F7"/>
                </a:solidFill>
                <a:latin typeface="맑은 고딕"/>
              </a:rPr>
              <a:t>코멘트</a:t>
            </a:r>
            <a:endParaRPr sz="1200" b="1" dirty="0">
              <a:solidFill>
                <a:srgbClr val="D8E1F7"/>
              </a:solidFill>
              <a:latin typeface="맑은 고딕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8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PR #69: “무엇이 왜 틀렸는지 + 재현 예시”가 있는 코멘트는 왕복 없이 한 번에 수정으로 이어진다.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0280"/>
            <a:ext cx="5486400" cy="3611880"/>
          </a:xfrm>
          <a:prstGeom prst="roundRect">
            <a:avLst>
              <a:gd name="adj" fmla="val 4500"/>
            </a:avLst>
          </a:prstGeom>
          <a:solidFill>
            <a:srgbClr val="0F1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Ins="256032" bIns="18288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7FA8FF"/>
                </a:solidFill>
                <a:latin typeface="맑은 고딕"/>
              </a:rPr>
              <a:t>PR #69 · 배열 인덱스 표현식 버그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리뷰어(hasuplee):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line_of_expr가 arr[0] = 10; 같은 배열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인덱스 라인에서 실패합니다.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→ 재현 코드 스니펫 포함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endParaRPr sz="1250">
              <a:solidFill>
                <a:srgbClr val="DBE6FF"/>
              </a:solidFill>
              <a:latin typeface="Consolas"/>
            </a:endParaRP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작성자: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즉시 반영 → 왕복 없이 APPROVED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2240280"/>
          <a:ext cx="5440679" cy="3611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3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7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29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요소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왜 효과적인가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무엇이 틀렸는지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추상적 지적(“버그가 있어요”)이 아니라 정확한 실패 지점을 짚는다.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재현 예시 포함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작성자가 직접 재현할 필요 없이 바로 원인을 확인할 수 있다.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왕복 최소화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한 번의 코멘트 → 한 번의 수정 → 승인으로 리뷰 사이클이 끝난다.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BP4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설계 결정에는 “왜”를 코멘트로 남긴다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33947"/>
            <a:ext cx="3108960" cy="1928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dirty="0">
                <a:solidFill>
                  <a:srgbClr val="D8E1F7"/>
                </a:solidFill>
                <a:latin typeface="맑은 고딕"/>
              </a:rPr>
              <a:t>BP 4/</a:t>
            </a:r>
            <a:r>
              <a:rPr lang="en-US" sz="1200" b="1" dirty="0">
                <a:solidFill>
                  <a:srgbClr val="D8E1F7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 · </a:t>
            </a:r>
            <a:r>
              <a:rPr sz="1200" b="1" dirty="0" err="1">
                <a:solidFill>
                  <a:srgbClr val="D8E1F7"/>
                </a:solidFill>
                <a:latin typeface="맑은 고딕"/>
              </a:rPr>
              <a:t>설계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D8E1F7"/>
                </a:solidFill>
                <a:latin typeface="맑은 고딕"/>
              </a:rPr>
              <a:t>문서화</a:t>
            </a:r>
            <a:endParaRPr sz="1200" b="1" dirty="0">
              <a:solidFill>
                <a:srgbClr val="D8E1F7"/>
              </a:solidFill>
              <a:latin typeface="맑은 고딕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PR #64: 대안을 검토했지만 채택하지 않은 이유까지 남기면, 같은 질문이 반복되지 않는다.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0280"/>
            <a:ext cx="5486400" cy="3611880"/>
          </a:xfrm>
          <a:prstGeom prst="roundRect">
            <a:avLst>
              <a:gd name="adj" fmla="val 4500"/>
            </a:avLst>
          </a:prstGeom>
          <a:solidFill>
            <a:srgbClr val="0F1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Ins="256032" bIns="18288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7FA8FF"/>
                </a:solidFill>
                <a:latin typeface="맑은 고딕"/>
              </a:rPr>
              <a:t>PR #64 · CLI 진입점 통합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리뷰어: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codefab &lt;경로&gt;처럼 인자 유무로 파일 모드를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판단하면 어떨까요?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endParaRPr sz="1250">
              <a:solidFill>
                <a:srgbClr val="DBE6FF"/>
              </a:solidFill>
              <a:latin typeface="Consolas"/>
            </a:endParaRP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작성자: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이후 debug &lt;경로&gt;가 추가되면 'debug'라는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단어가 파일 경로로 오인될 수 있어, 서브커맨드로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모드를 명시하는 구조를 유지했습니다.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2240280"/>
          <a:ext cx="5440679" cy="3611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3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7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29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미래 확장 근거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실제로 이후 PR #69에서 debug 서브커맨드가 추가되며 이 결정이 맞았음이 증명됐다.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반복 질문 방지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왜 이렇게 설계했는지 기록해두면 같은 질문이 나중에 또 나오지 않는다.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대안까지 기록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채택한 안뿐 아니라 검토했던 대안(인자 기반 판단)도 남아 맥락이 보존된다.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onsolas"/>
              </a:rPr>
              <a:t>BP</a:t>
            </a:r>
            <a:r>
              <a:rPr lang="en-US" sz="1300" b="1" dirty="0">
                <a:solidFill>
                  <a:srgbClr val="FFFFFF"/>
                </a:solidFill>
                <a:latin typeface="Consolas"/>
              </a:rPr>
              <a:t>5</a:t>
            </a:r>
            <a:endParaRPr sz="1300" b="1" dirty="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공통 로직은 그대로, 달라지는 지점만 훅으로 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33947"/>
            <a:ext cx="3108960" cy="1928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dirty="0">
                <a:solidFill>
                  <a:srgbClr val="D8E1F7"/>
                </a:solidFill>
                <a:latin typeface="맑은 고딕"/>
              </a:rPr>
              <a:t>BP </a:t>
            </a:r>
            <a:r>
              <a:rPr lang="en-US" sz="1200" b="1" dirty="0">
                <a:solidFill>
                  <a:srgbClr val="D8E1F7"/>
                </a:solidFill>
                <a:latin typeface="맑은 고딕"/>
              </a:rPr>
              <a:t>5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/</a:t>
            </a:r>
            <a:r>
              <a:rPr lang="en-US" sz="1200" b="1" dirty="0">
                <a:solidFill>
                  <a:srgbClr val="D8E1F7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 · </a:t>
            </a:r>
            <a:r>
              <a:rPr sz="1200" b="1" dirty="0" err="1">
                <a:solidFill>
                  <a:srgbClr val="D8E1F7"/>
                </a:solidFill>
                <a:latin typeface="맑은 고딕"/>
              </a:rPr>
              <a:t>리팩토링</a:t>
            </a:r>
            <a:endParaRPr sz="1200" b="1" dirty="0">
              <a:solidFill>
                <a:srgbClr val="D8E1F7"/>
              </a:solidFill>
              <a:latin typeface="맑은 고딕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베이스 클래스를 고치지 않고, 딱 한 지점을 훅으로 뽑아 서브클래스가 오버라이드하게 만든다.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0280"/>
            <a:ext cx="5486400" cy="3611880"/>
          </a:xfrm>
          <a:prstGeom prst="roundRect">
            <a:avLst>
              <a:gd name="adj" fmla="val 4500"/>
            </a:avLst>
          </a:prstGeom>
          <a:solidFill>
            <a:srgbClr val="0F1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Ins="256032" bIns="18288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7FA8FF"/>
                </a:solidFill>
                <a:latin typeface="맑은 고딕"/>
              </a:rPr>
              <a:t>codefab/checker.py → codefab/function_checker.py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# Checker: 메서드 순회 로직을 훅 하나로 분리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def _visit_method_body(self, method) -&gt; None: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for statement in method.body: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    statement.accept(self)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endParaRPr sz="1250">
              <a:solidFill>
                <a:srgbClr val="DBE6FF"/>
              </a:solidFill>
              <a:latin typeface="Consolas"/>
            </a:endParaRP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# FunctionChecker: 이 훅 하나만 오버라이드해서 확장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def _visit_method_body(self, method) -&gt; None: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self.function_depth += 1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try: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    super()._visit_method_body(method)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finally: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    self.function_depth -= 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2240280"/>
          <a:ext cx="5440679" cy="3611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3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7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29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원칙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적용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개방-폐쇄 원칙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Checker의 기존 코드는 한 줄도 안 건드리고 FunctionChecker만 확장했다.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단일 진입점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“메서드 본문을 어떻게 순회하는가”가 코드베이스 전체에서 딱 한 곳에만 존재한다.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회귀 위험 최소화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기존 클래스 검사 동작은 그대로 보존된 채로 “메서드 내부 반환” 지원이 추가됐다.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1700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onsolas"/>
              </a:rPr>
              <a:t>BP</a:t>
            </a:r>
            <a:r>
              <a:rPr lang="en-US" sz="1300" b="1" dirty="0">
                <a:solidFill>
                  <a:srgbClr val="FFFFFF"/>
                </a:solidFill>
                <a:latin typeface="Consolas"/>
              </a:rPr>
              <a:t>6</a:t>
            </a:r>
            <a:endParaRPr sz="1300" b="1" dirty="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다국어 표기는 렉서 한 층에서 끝낸다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33947"/>
            <a:ext cx="3108960" cy="1928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dirty="0">
                <a:solidFill>
                  <a:srgbClr val="D8E1F7"/>
                </a:solidFill>
                <a:latin typeface="맑은 고딕"/>
              </a:rPr>
              <a:t>BP </a:t>
            </a:r>
            <a:r>
              <a:rPr lang="en-US" sz="1200" b="1" dirty="0">
                <a:solidFill>
                  <a:srgbClr val="D8E1F7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/</a:t>
            </a:r>
            <a:r>
              <a:rPr lang="en-US" sz="1200" b="1" dirty="0">
                <a:solidFill>
                  <a:srgbClr val="D8E1F7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 · </a:t>
            </a:r>
            <a:r>
              <a:rPr sz="1200" b="1" dirty="0" err="1">
                <a:solidFill>
                  <a:srgbClr val="D8E1F7"/>
                </a:solidFill>
                <a:latin typeface="맑은 고딕"/>
              </a:rPr>
              <a:t>언어</a:t>
            </a:r>
            <a:r>
              <a:rPr sz="1200" b="1" dirty="0">
                <a:solidFill>
                  <a:srgbClr val="D8E1F7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D8E1F7"/>
                </a:solidFill>
                <a:latin typeface="맑은 고딕"/>
              </a:rPr>
              <a:t>설계</a:t>
            </a:r>
            <a:endParaRPr sz="1200" b="1" dirty="0">
              <a:solidFill>
                <a:srgbClr val="D8E1F7"/>
              </a:solidFill>
              <a:latin typeface="맑은 고딕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8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한글·영어 표기는 토크나이저에서만 구분하고, 그 아래 계층은 표기 언어를 몰라도 되게 만든다.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0280"/>
            <a:ext cx="5486400" cy="3611880"/>
          </a:xfrm>
          <a:prstGeom prst="roundRect">
            <a:avLst>
              <a:gd name="adj" fmla="val 4500"/>
            </a:avLst>
          </a:prstGeom>
          <a:solidFill>
            <a:srgbClr val="0F1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Ins="256032" bIns="18288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7FA8FF"/>
                </a:solidFill>
                <a:latin typeface="맑은 고딕"/>
              </a:rPr>
              <a:t>codefab/tokens.py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KEYWORDS = {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"var": TokenType.VAR,       "변수": TokenType.VAR,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"class": TokenType.CLASS,   "클래스": TokenType.CLASS,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"func": TokenType.FUN,      "함수": TokenType.FUN,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    "return": TokenType.RETURN, "반환": TokenType.RETURN,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DBE6FF"/>
                </a:solidFill>
                <a:latin typeface="Consolas"/>
              </a:rPr>
              <a:t>}</a:t>
            </a:r>
          </a:p>
          <a:p>
            <a:pPr>
              <a:lnSpc>
                <a:spcPct val="128000"/>
              </a:lnSpc>
              <a:spcBef>
                <a:spcPts val="100"/>
              </a:spcBef>
            </a:pPr>
            <a:r>
              <a:rPr sz="1250">
                <a:solidFill>
                  <a:srgbClr val="7FA8FF"/>
                </a:solidFill>
                <a:latin typeface="Consolas"/>
              </a:rPr>
              <a:t># AST / Checker / Executor는 TokenType만 보고, 표기는 신경 쓰지 않는다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2240280"/>
          <a:ext cx="5440679" cy="3611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3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7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29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언어 인식 여부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Tokenizer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한글·영어 표기를 모두 인식해 같은 TokenType으로 통일한다.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AST / Checker / Executor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표기 언어와 완전히 무관 — TokenType enum 값만 보고 동작한다.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A63"/>
                          </a:solidFill>
                          <a:latin typeface="맑은 고딕"/>
                        </a:rPr>
                        <a:t>확장 비용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>
                          <a:solidFill>
                            <a:srgbClr val="16213A"/>
                          </a:solidFill>
                          <a:latin typeface="맑은 고딕"/>
                        </a:rPr>
                        <a:t>새 표기를 추가할 때 KEYWORDS 테이블 한 줄만 고치면 된다. 실제로 func/return이 함수/반환과 동일하게 동작함을 테스트로 검증했다.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5471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프로젝트 시연 시나리오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Live Demo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45720" cy="68580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298448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6213A"/>
                </a:solidFill>
                <a:latin typeface="맑은 고딕"/>
              </a:rPr>
              <a:t>파일 모드 → REPL → 디버그 모드 순서로, Chapter 1~7 기능이 실제로 맞물려 동작하는 모습을 보여줍니다.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" y="2286000"/>
          <a:ext cx="11183111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66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46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순서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보여줄 내용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1. 파일 모드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`codefab run`으로 클래스+함수+상속이 함께 있는 예제 실행 → 정상 출력 확인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2. REPL 모드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변수 선언·조건문을 한 줄씩 입력해 대화형으로 실행하는 모습 시연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3. 디버그 모드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`codefab debug`에서 step/breakpoint/watch로 함수 호출과 변수 변화를 실시간 관찰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4. import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분리된 모듈(.laugh) 파일을 불러와 변수·함수를 재사용하는 예제 실행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42A63"/>
                          </a:solidFill>
                          <a:latin typeface="맑은 고딕"/>
                        </a:rPr>
                        <a:t>5. 에러 케이스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의도적으로 잘못된 스크립트 실행 → 정확한 한글 에러 메시지와 줄 번호 확인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329184"/>
            <a:ext cx="566928" cy="384048"/>
          </a:xfrm>
          <a:prstGeom prst="roundRect">
            <a:avLst>
              <a:gd name="adj" fmla="val 30000"/>
            </a:avLst>
          </a:prstGeom>
          <a:solidFill>
            <a:srgbClr val="14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소감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D8E1F7"/>
                </a:solidFill>
                <a:latin typeface="맑은 고딕"/>
              </a:rPr>
              <a:t>Retrospective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355080"/>
            <a:ext cx="11183112" cy="0"/>
          </a:xfrm>
          <a:prstGeom prst="line">
            <a:avLst/>
          </a:prstGeom>
          <a:ln w="12700">
            <a:solidFill>
              <a:srgbClr val="CFD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CodeFab Interpreter · 5일차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2618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5B6B8C"/>
                </a:solidFill>
                <a:latin typeface="Consolas"/>
              </a:rPr>
              <a:t>11 / 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973472"/>
              </p:ext>
            </p:extLst>
          </p:nvPr>
        </p:nvGraphicFramePr>
        <p:xfrm>
          <a:off x="502920" y="1417320"/>
          <a:ext cx="11183111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5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74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62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B8C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5B6B8C"/>
                          </a:solidFill>
                          <a:latin typeface="맑은 고딕"/>
                        </a:rPr>
                        <a:t>소감</a:t>
                      </a:r>
                      <a:endParaRPr sz="1100" b="1" dirty="0">
                        <a:solidFill>
                          <a:srgbClr val="5B6B8C"/>
                        </a:solidFill>
                        <a:latin typeface="맑은 고딕"/>
                      </a:endParaRPr>
                    </a:p>
                  </a:txBody>
                  <a:tcPr marL="109728" marR="109728" marT="54864" marB="54864" anchor="b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r>
                        <a:rPr lang="ko-KR" altLang="en-US" sz="1350" b="1" dirty="0" err="1">
                          <a:solidFill>
                            <a:srgbClr val="142A63"/>
                          </a:solidFill>
                          <a:latin typeface="맑은 고딕"/>
                        </a:rPr>
                        <a:t>김병남</a:t>
                      </a:r>
                      <a:endParaRPr sz="1350" b="1" dirty="0">
                        <a:solidFill>
                          <a:srgbClr val="142A63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여러 브랜치를 하나의 파이프라인으로 배선하면서, 통합 테스트가 왜 필요한지 몸으로 느꼈다.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r>
                        <a:rPr lang="ko-KR" altLang="en-US" sz="1350" b="1" dirty="0" err="1">
                          <a:solidFill>
                            <a:srgbClr val="142A63"/>
                          </a:solidFill>
                          <a:latin typeface="맑은 고딕"/>
                        </a:rPr>
                        <a:t>조승주</a:t>
                      </a:r>
                      <a:endParaRPr sz="1350" b="1" dirty="0">
                        <a:solidFill>
                          <a:srgbClr val="142A63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한글 키워드 하나 추가하는 것도 토크나이저 설계가 받쳐줘야 쉬워진다는 걸 알았다.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r>
                        <a:rPr lang="ko-KR" altLang="en-US" sz="1350" b="1" dirty="0" err="1">
                          <a:solidFill>
                            <a:srgbClr val="142A63"/>
                          </a:solidFill>
                          <a:latin typeface="맑은 고딕"/>
                        </a:rPr>
                        <a:t>이하섭</a:t>
                      </a:r>
                      <a:endParaRPr sz="1350" b="1" dirty="0">
                        <a:solidFill>
                          <a:srgbClr val="142A63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클래스 기능을 만들고 나서야 this/super 바인딩 같은 작은 디테일이 큰 버그로 이어진다는 걸 체감했다.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r>
                        <a:rPr lang="ko-KR" altLang="en-US" sz="1350" b="1" dirty="0">
                          <a:solidFill>
                            <a:srgbClr val="142A63"/>
                          </a:solidFill>
                          <a:latin typeface="맑은 고딕"/>
                        </a:rPr>
                        <a:t>최현준</a:t>
                      </a:r>
                      <a:endParaRPr sz="1350" b="1" dirty="0">
                        <a:solidFill>
                          <a:srgbClr val="142A63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>
                          <a:solidFill>
                            <a:srgbClr val="16213A"/>
                          </a:solidFill>
                          <a:latin typeface="맑은 고딕"/>
                        </a:rPr>
                        <a:t>최적화는 정답을 바꾸지 않는 선에서만 해야 한다는 원칙을 지키는 게 생각보다 까다로웠다.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r>
                        <a:rPr lang="ko-KR" altLang="en-US" sz="1350" b="1" dirty="0">
                          <a:solidFill>
                            <a:srgbClr val="142A63"/>
                          </a:solidFill>
                          <a:latin typeface="맑은 고딕"/>
                        </a:rPr>
                        <a:t>이준원</a:t>
                      </a:r>
                      <a:endParaRPr sz="1350" b="1" dirty="0">
                        <a:solidFill>
                          <a:srgbClr val="142A63"/>
                        </a:solidFill>
                        <a:latin typeface="맑은 고딕"/>
                      </a:endParaRP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Checker를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제일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먼저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설계해두니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,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뒤에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오는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기능들이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그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위에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안전하게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쌓일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 수 </a:t>
                      </a:r>
                      <a:r>
                        <a:rPr sz="1350" dirty="0" err="1">
                          <a:solidFill>
                            <a:srgbClr val="16213A"/>
                          </a:solidFill>
                          <a:latin typeface="맑은 고딕"/>
                        </a:rPr>
                        <a:t>있었다</a:t>
                      </a:r>
                      <a:r>
                        <a:rPr sz="1350" dirty="0">
                          <a:solidFill>
                            <a:srgbClr val="16213A"/>
                          </a:solidFill>
                          <a:latin typeface="맑은 고딕"/>
                        </a:rPr>
                        <a:t>.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1849</Words>
  <Application>Microsoft Office PowerPoint</Application>
  <PresentationFormat>와이드스크린</PresentationFormat>
  <Paragraphs>259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User</cp:lastModifiedBy>
  <cp:revision>2</cp:revision>
  <dcterms:created xsi:type="dcterms:W3CDTF">2013-01-27T09:14:16Z</dcterms:created>
  <dcterms:modified xsi:type="dcterms:W3CDTF">2026-07-09T05:03:28Z</dcterms:modified>
  <cp:category/>
</cp:coreProperties>
</file>